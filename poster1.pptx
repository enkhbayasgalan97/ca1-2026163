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3"/>
  </p:notes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7471" autoAdjust="0"/>
    <p:restoredTop sz="94660"/>
  </p:normalViewPr>
  <p:slideViewPr>
    <p:cSldViewPr snapToGrid="0">
      <p:cViewPr>
        <p:scale>
          <a:sx n="25" d="100"/>
          <a:sy n="25" d="100"/>
        </p:scale>
        <p:origin x="974" y="-106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2A926C-90D6-4289-8F51-DD29ED19146F}" type="datetimeFigureOut">
              <a:rPr lang="en-US" smtClean="0"/>
              <a:t>10/23/2026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147058-A90E-4E07-B0EE-B5AA252222B8}" type="slidenum">
              <a:rPr lang="en-US" smtClean="0"/>
              <a:t>‹#›</a:t>
            </a:fld>
            <a:endParaRPr lang="en-US"/>
          </a:p>
        </p:txBody>
      </p:sp>
    </p:spTree>
    <p:extLst>
      <p:ext uri="{BB962C8B-B14F-4D97-AF65-F5344CB8AC3E}">
        <p14:creationId xmlns:p14="http://schemas.microsoft.com/office/powerpoint/2010/main" val="456960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E147058-A90E-4E07-B0EE-B5AA252222B8}" type="slidenum">
              <a:rPr lang="en-US" smtClean="0"/>
              <a:t>1</a:t>
            </a:fld>
            <a:endParaRPr lang="en-US"/>
          </a:p>
        </p:txBody>
      </p:sp>
    </p:spTree>
    <p:extLst>
      <p:ext uri="{BB962C8B-B14F-4D97-AF65-F5344CB8AC3E}">
        <p14:creationId xmlns:p14="http://schemas.microsoft.com/office/powerpoint/2010/main" val="732770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42558946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28893207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solidFill>
              </a:defRPr>
            </a:lvl1pPr>
            <a:lvl2pPr marL="2194560" indent="0">
              <a:buNone/>
              <a:defRPr sz="9600">
                <a:solidFill>
                  <a:schemeClr val="tx1">
                    <a:tint val="75000"/>
                  </a:schemeClr>
                </a:solidFill>
              </a:defRPr>
            </a:lvl2pPr>
            <a:lvl3pPr marL="4389120" indent="0">
              <a:buNone/>
              <a:defRPr sz="8640">
                <a:solidFill>
                  <a:schemeClr val="tx1">
                    <a:tint val="75000"/>
                  </a:schemeClr>
                </a:solidFill>
              </a:defRPr>
            </a:lvl3pPr>
            <a:lvl4pPr marL="6583680" indent="0">
              <a:buNone/>
              <a:defRPr sz="7680">
                <a:solidFill>
                  <a:schemeClr val="tx1">
                    <a:tint val="75000"/>
                  </a:schemeClr>
                </a:solidFill>
              </a:defRPr>
            </a:lvl4pPr>
            <a:lvl5pPr marL="8778240" indent="0">
              <a:buNone/>
              <a:defRPr sz="7680">
                <a:solidFill>
                  <a:schemeClr val="tx1">
                    <a:tint val="75000"/>
                  </a:schemeClr>
                </a:solidFill>
              </a:defRPr>
            </a:lvl5pPr>
            <a:lvl6pPr marL="10972800" indent="0">
              <a:buNone/>
              <a:defRPr sz="7680">
                <a:solidFill>
                  <a:schemeClr val="tx1">
                    <a:tint val="75000"/>
                  </a:schemeClr>
                </a:solidFill>
              </a:defRPr>
            </a:lvl6pPr>
            <a:lvl7pPr marL="13167360" indent="0">
              <a:buNone/>
              <a:defRPr sz="7680">
                <a:solidFill>
                  <a:schemeClr val="tx1">
                    <a:tint val="75000"/>
                  </a:schemeClr>
                </a:solidFill>
              </a:defRPr>
            </a:lvl7pPr>
            <a:lvl8pPr marL="15361920" indent="0">
              <a:buNone/>
              <a:defRPr sz="7680">
                <a:solidFill>
                  <a:schemeClr val="tx1">
                    <a:tint val="75000"/>
                  </a:schemeClr>
                </a:solidFill>
              </a:defRPr>
            </a:lvl8pPr>
            <a:lvl9pPr marL="17556480" indent="0">
              <a:buNone/>
              <a:defRPr sz="7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ACA1C7C-A57E-4601-A266-C84919E8106A}"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962839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ACA1C7C-A57E-4601-A266-C84919E8106A}"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749218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ACA1C7C-A57E-4601-A266-C84919E8106A}"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7221654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ACA1C7C-A57E-4601-A266-C84919E8106A}"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986658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CA1C7C-A57E-4601-A266-C84919E8106A}"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991270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BACA1C7C-A57E-4601-A266-C84919E8106A}"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01393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BACA1C7C-A57E-4601-A266-C84919E8106A}"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3224773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12114326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ACA1C7C-A57E-4601-A266-C84919E8106A}"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52393F-D8CA-435B-93C0-1CBDA6DAA8DF}" type="slidenum">
              <a:rPr lang="en-US" smtClean="0"/>
              <a:t>‹#›</a:t>
            </a:fld>
            <a:endParaRPr lang="en-US"/>
          </a:p>
        </p:txBody>
      </p:sp>
    </p:spTree>
    <p:extLst>
      <p:ext uri="{BB962C8B-B14F-4D97-AF65-F5344CB8AC3E}">
        <p14:creationId xmlns:p14="http://schemas.microsoft.com/office/powerpoint/2010/main" val="8488326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75000"/>
                  </a:schemeClr>
                </a:solidFill>
              </a:defRPr>
            </a:lvl1pPr>
          </a:lstStyle>
          <a:p>
            <a:fld id="{BACA1C7C-A57E-4601-A266-C84919E8106A}" type="datetimeFigureOut">
              <a:rPr lang="en-US" smtClean="0"/>
              <a:t>10/23/2026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75000"/>
                  </a:schemeClr>
                </a:solidFill>
              </a:defRPr>
            </a:lvl1pPr>
          </a:lstStyle>
          <a:p>
            <a:fld id="{5152393F-D8CA-435B-93C0-1CBDA6DAA8DF}" type="slidenum">
              <a:rPr lang="en-US" smtClean="0"/>
              <a:t>‹#›</a:t>
            </a:fld>
            <a:endParaRPr lang="en-US"/>
          </a:p>
        </p:txBody>
      </p:sp>
    </p:spTree>
    <p:extLst>
      <p:ext uri="{BB962C8B-B14F-4D97-AF65-F5344CB8AC3E}">
        <p14:creationId xmlns:p14="http://schemas.microsoft.com/office/powerpoint/2010/main" val="403715747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ED8F9F5-399E-E2C8-E3A0-708A83B18A8E}"/>
              </a:ext>
            </a:extLst>
          </p:cNvPr>
          <p:cNvSpPr txBox="1"/>
          <p:nvPr/>
        </p:nvSpPr>
        <p:spPr>
          <a:xfrm>
            <a:off x="1075602" y="2438157"/>
            <a:ext cx="41691382" cy="2103120"/>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r>
              <a:rPr lang="en-US" sz="3200" b="1" dirty="0">
                <a:solidFill>
                  <a:schemeClr val="accent3"/>
                </a:solidFill>
                <a:latin typeface="Arial" panose="020B0604020202020204" pitchFamily="34" charset="0"/>
                <a:cs typeface="Arial" panose="020B0604020202020204" pitchFamily="34" charset="0"/>
              </a:rPr>
              <a:t>	INTRODUCTION</a:t>
            </a:r>
            <a:endParaRPr lang="en-US" sz="3200" dirty="0">
              <a:solidFill>
                <a:schemeClr val="accent3"/>
              </a:solidFill>
              <a:latin typeface="Arial" panose="020B0604020202020204" pitchFamily="34" charset="0"/>
              <a:cs typeface="Arial" panose="020B0604020202020204" pitchFamily="34" charset="0"/>
            </a:endParaRPr>
          </a:p>
          <a:p>
            <a:pPr algn="just"/>
            <a:r>
              <a:rPr lang="en-US" sz="3200" dirty="0">
                <a:solidFill>
                  <a:schemeClr val="tx1"/>
                </a:solidFill>
                <a:latin typeface="Arial" panose="020B0604020202020204" pitchFamily="34" charset="0"/>
                <a:cs typeface="Arial" panose="020B0604020202020204" pitchFamily="34" charset="0"/>
              </a:rPr>
              <a:t>	Data is 1.04 million rows, 9 columns, between Dec.2006 to Nov.2027. Measurements of electric power consumption in just one household with a one-minute sampling rate over a period. It shows different electrical quantities and some sub-metering values. This data represents household electricity consumption by one household usage so it will be include housing data category. </a:t>
            </a:r>
          </a:p>
          <a:p>
            <a:pPr algn="just"/>
            <a:endParaRPr lang="en-US" sz="3600" dirty="0">
              <a:solidFill>
                <a:srgbClr val="FF0000"/>
              </a:solidFill>
              <a:latin typeface="Arial" panose="020B0604020202020204" pitchFamily="34" charset="0"/>
              <a:cs typeface="Arial" panose="020B0604020202020204" pitchFamily="34" charset="0"/>
            </a:endParaRPr>
          </a:p>
          <a:p>
            <a:endParaRPr lang="en-US" dirty="0">
              <a:solidFill>
                <a:schemeClr val="bg1"/>
              </a:solidFill>
            </a:endParaRPr>
          </a:p>
        </p:txBody>
      </p:sp>
      <p:sp>
        <p:nvSpPr>
          <p:cNvPr id="13" name="TextBox 12">
            <a:extLst>
              <a:ext uri="{FF2B5EF4-FFF2-40B4-BE49-F238E27FC236}">
                <a16:creationId xmlns:a16="http://schemas.microsoft.com/office/drawing/2014/main" id="{A655674C-B556-1F71-8536-CF9B72101D5F}"/>
              </a:ext>
            </a:extLst>
          </p:cNvPr>
          <p:cNvSpPr txBox="1"/>
          <p:nvPr/>
        </p:nvSpPr>
        <p:spPr>
          <a:xfrm>
            <a:off x="5327791" y="4737227"/>
            <a:ext cx="12843162" cy="984885"/>
          </a:xfrm>
          <a:prstGeom prst="rect">
            <a:avLst/>
          </a:prstGeom>
          <a:noFill/>
        </p:spPr>
        <p:txBody>
          <a:bodyPr wrap="square" rtlCol="0">
            <a:spAutoFit/>
          </a:bodyPr>
          <a:lstStyle/>
          <a:p>
            <a:r>
              <a:rPr lang="en-US" sz="4000" b="1" dirty="0">
                <a:solidFill>
                  <a:schemeClr val="accent3"/>
                </a:solidFill>
                <a:latin typeface="Arial" panose="020B0604020202020204" pitchFamily="34" charset="0"/>
                <a:cs typeface="Arial" panose="020B0604020202020204" pitchFamily="34" charset="0"/>
              </a:rPr>
              <a:t>CLUSTERING MODELS RESULTS</a:t>
            </a:r>
          </a:p>
          <a:p>
            <a:endParaRPr lang="en-US" dirty="0"/>
          </a:p>
        </p:txBody>
      </p:sp>
      <p:sp>
        <p:nvSpPr>
          <p:cNvPr id="15" name="TextBox 14">
            <a:extLst>
              <a:ext uri="{FF2B5EF4-FFF2-40B4-BE49-F238E27FC236}">
                <a16:creationId xmlns:a16="http://schemas.microsoft.com/office/drawing/2014/main" id="{D760D43C-87C9-C848-E3BD-1FB57D93AE65}"/>
              </a:ext>
            </a:extLst>
          </p:cNvPr>
          <p:cNvSpPr txBox="1"/>
          <p:nvPr/>
        </p:nvSpPr>
        <p:spPr>
          <a:xfrm>
            <a:off x="25953831" y="4728374"/>
            <a:ext cx="12843162" cy="707886"/>
          </a:xfrm>
          <a:prstGeom prst="rect">
            <a:avLst/>
          </a:prstGeom>
          <a:noFill/>
        </p:spPr>
        <p:txBody>
          <a:bodyPr wrap="square" rtlCol="0">
            <a:spAutoFit/>
          </a:bodyPr>
          <a:lstStyle/>
          <a:p>
            <a:r>
              <a:rPr lang="en-US" sz="4000" b="1" dirty="0">
                <a:solidFill>
                  <a:schemeClr val="accent3"/>
                </a:solidFill>
                <a:latin typeface="Arial" panose="020B0604020202020204" pitchFamily="34" charset="0"/>
                <a:cs typeface="Arial" panose="020B0604020202020204" pitchFamily="34" charset="0"/>
              </a:rPr>
              <a:t>STATIONARY TEST AND SARIMA MODEL RESULTS</a:t>
            </a:r>
          </a:p>
        </p:txBody>
      </p:sp>
      <p:sp>
        <p:nvSpPr>
          <p:cNvPr id="16" name="TextBox 15">
            <a:extLst>
              <a:ext uri="{FF2B5EF4-FFF2-40B4-BE49-F238E27FC236}">
                <a16:creationId xmlns:a16="http://schemas.microsoft.com/office/drawing/2014/main" id="{35A6CD5A-BA0C-269D-1374-0EBB621D2256}"/>
              </a:ext>
            </a:extLst>
          </p:cNvPr>
          <p:cNvSpPr txBox="1"/>
          <p:nvPr/>
        </p:nvSpPr>
        <p:spPr>
          <a:xfrm>
            <a:off x="1089570" y="5607913"/>
            <a:ext cx="20665440" cy="19970496"/>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endParaRPr lang="en-US" sz="3200" b="1" dirty="0">
              <a:solidFill>
                <a:schemeClr val="accent3"/>
              </a:solidFill>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K-Means</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r>
              <a:rPr lang="en-US" sz="3200" dirty="0">
                <a:latin typeface="Arial" panose="020B0604020202020204" pitchFamily="34" charset="0"/>
                <a:cs typeface="Arial" panose="020B0604020202020204" pitchFamily="34" charset="0"/>
              </a:rPr>
              <a:t>	</a:t>
            </a:r>
            <a:r>
              <a:rPr lang="en-US" sz="3200" b="1" dirty="0">
                <a:solidFill>
                  <a:schemeClr val="accent3"/>
                </a:solidFill>
                <a:latin typeface="Arial" panose="020B0604020202020204" pitchFamily="34" charset="0"/>
                <a:cs typeface="Arial" panose="020B0604020202020204" pitchFamily="34" charset="0"/>
              </a:rPr>
              <a:t>K-</a:t>
            </a:r>
            <a:r>
              <a:rPr lang="en-US" sz="3200" b="1" dirty="0" err="1">
                <a:solidFill>
                  <a:schemeClr val="accent3"/>
                </a:solidFill>
                <a:latin typeface="Arial" panose="020B0604020202020204" pitchFamily="34" charset="0"/>
                <a:cs typeface="Arial" panose="020B0604020202020204" pitchFamily="34" charset="0"/>
              </a:rPr>
              <a:t>Meidod</a:t>
            </a:r>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DBSCAN </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Fuzzy C-Means</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p:txBody>
      </p:sp>
      <p:pic>
        <p:nvPicPr>
          <p:cNvPr id="22" name="Picture 21">
            <a:extLst>
              <a:ext uri="{FF2B5EF4-FFF2-40B4-BE49-F238E27FC236}">
                <a16:creationId xmlns:a16="http://schemas.microsoft.com/office/drawing/2014/main" id="{614D2A9C-2888-22C1-407D-7909650B210A}"/>
              </a:ext>
            </a:extLst>
          </p:cNvPr>
          <p:cNvPicPr>
            <a:picLocks noChangeAspect="1"/>
          </p:cNvPicPr>
          <p:nvPr/>
        </p:nvPicPr>
        <p:blipFill>
          <a:blip r:embed="rId3"/>
          <a:stretch>
            <a:fillRect/>
          </a:stretch>
        </p:blipFill>
        <p:spPr>
          <a:xfrm>
            <a:off x="1189853" y="7403044"/>
            <a:ext cx="5056213" cy="3225251"/>
          </a:xfrm>
          <a:prstGeom prst="rect">
            <a:avLst/>
          </a:prstGeom>
        </p:spPr>
      </p:pic>
      <p:sp>
        <p:nvSpPr>
          <p:cNvPr id="9" name="TextBox 8">
            <a:extLst>
              <a:ext uri="{FF2B5EF4-FFF2-40B4-BE49-F238E27FC236}">
                <a16:creationId xmlns:a16="http://schemas.microsoft.com/office/drawing/2014/main" id="{E516117A-D4F6-AE31-505A-289B357469B4}"/>
              </a:ext>
            </a:extLst>
          </p:cNvPr>
          <p:cNvSpPr txBox="1"/>
          <p:nvPr/>
        </p:nvSpPr>
        <p:spPr>
          <a:xfrm>
            <a:off x="22042692" y="5607913"/>
            <a:ext cx="20665440" cy="19970496"/>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just"/>
            <a:endParaRPr lang="en-US" sz="3200" b="1" dirty="0">
              <a:solidFill>
                <a:schemeClr val="accent3"/>
              </a:solidFill>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Dickey-Fuller test</a:t>
            </a:r>
          </a:p>
          <a:p>
            <a:pPr algn="just"/>
            <a:r>
              <a:rPr lang="en-US" sz="3200" dirty="0">
                <a:latin typeface="Arial" panose="020B0604020202020204" pitchFamily="34" charset="0"/>
                <a:cs typeface="Arial" panose="020B0604020202020204" pitchFamily="34" charset="0"/>
              </a:rPr>
              <a:t>					</a:t>
            </a: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r>
              <a:rPr lang="en-US" sz="3200" b="1" dirty="0">
                <a:latin typeface="Arial" panose="020B0604020202020204" pitchFamily="34" charset="0"/>
                <a:cs typeface="Arial" panose="020B0604020202020204" pitchFamily="34" charset="0"/>
              </a:rPr>
              <a:t>	</a:t>
            </a:r>
            <a:r>
              <a:rPr lang="en-US" sz="3200" b="1" dirty="0">
                <a:solidFill>
                  <a:schemeClr val="accent3"/>
                </a:solidFill>
                <a:latin typeface="Arial" panose="020B0604020202020204" pitchFamily="34" charset="0"/>
                <a:cs typeface="Arial" panose="020B0604020202020204" pitchFamily="34" charset="0"/>
              </a:rPr>
              <a:t>ARIMA and SARIMA</a:t>
            </a: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Triple Exponential</a:t>
            </a: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solidFill>
                <a:schemeClr val="accent3"/>
              </a:solidFill>
              <a:latin typeface="Arial" panose="020B0604020202020204" pitchFamily="34" charset="0"/>
              <a:cs typeface="Arial" panose="020B0604020202020204" pitchFamily="34" charset="0"/>
            </a:endParaRPr>
          </a:p>
          <a:p>
            <a:pPr algn="just"/>
            <a:r>
              <a:rPr lang="en-US" sz="3200" b="1" dirty="0">
                <a:solidFill>
                  <a:schemeClr val="accent3"/>
                </a:solidFill>
                <a:latin typeface="Arial" panose="020B0604020202020204" pitchFamily="34" charset="0"/>
                <a:cs typeface="Arial" panose="020B0604020202020204" pitchFamily="34" charset="0"/>
              </a:rPr>
              <a:t>	Holt-Winters model</a:t>
            </a:r>
          </a:p>
          <a:p>
            <a:pPr algn="just"/>
            <a:endParaRPr lang="en-US" sz="3200" b="1" dirty="0">
              <a:solidFill>
                <a:schemeClr val="accent3"/>
              </a:solidFill>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200" b="1" dirty="0">
              <a:latin typeface="Arial" panose="020B0604020202020204" pitchFamily="34" charset="0"/>
              <a:cs typeface="Arial" panose="020B0604020202020204" pitchFamily="34" charset="0"/>
            </a:endParaRPr>
          </a:p>
          <a:p>
            <a:pPr algn="just"/>
            <a:endParaRPr lang="en-US" sz="3600" dirty="0">
              <a:solidFill>
                <a:srgbClr val="FF0000"/>
              </a:solidFill>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a:p>
            <a:pPr algn="just"/>
            <a:endParaRPr lang="en-US" sz="48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444E9714-CA08-DAE2-DBC9-A6E2F29315A9}"/>
              </a:ext>
            </a:extLst>
          </p:cNvPr>
          <p:cNvSpPr txBox="1"/>
          <p:nvPr/>
        </p:nvSpPr>
        <p:spPr>
          <a:xfrm>
            <a:off x="1075602" y="315670"/>
            <a:ext cx="41708873" cy="1938992"/>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en-US" sz="4400" b="1" dirty="0">
                <a:solidFill>
                  <a:schemeClr val="accent3"/>
                </a:solidFill>
                <a:latin typeface="Arial" panose="020B0604020202020204" pitchFamily="34" charset="0"/>
                <a:cs typeface="Arial" panose="020B0604020202020204" pitchFamily="34" charset="0"/>
              </a:rPr>
              <a:t>INDIVIDUAL HOUSEHOLD ELECTRICITY CONSUMPTION DATA FOR CLUSTERING AND TIME SERIES MODEL</a:t>
            </a:r>
          </a:p>
          <a:p>
            <a:pPr algn="ctr"/>
            <a:r>
              <a:rPr lang="en-US" sz="3600" dirty="0">
                <a:solidFill>
                  <a:schemeClr val="accent3"/>
                </a:solidFill>
                <a:latin typeface="Arial" panose="020B0604020202020204" pitchFamily="34" charset="0"/>
                <a:cs typeface="Arial" panose="020B0604020202020204" pitchFamily="34" charset="0"/>
              </a:rPr>
              <a:t>						</a:t>
            </a:r>
          </a:p>
          <a:p>
            <a:pPr algn="ctr"/>
            <a:r>
              <a:rPr lang="en-US" sz="4000" dirty="0">
                <a:solidFill>
                  <a:schemeClr val="accent3"/>
                </a:solidFill>
                <a:latin typeface="Arial" panose="020B0604020202020204" pitchFamily="34" charset="0"/>
                <a:cs typeface="Arial" panose="020B0604020202020204" pitchFamily="34" charset="0"/>
              </a:rPr>
              <a:t>Enkhbayasgalan Batbayar, Data Analytics for Business, 10/16/2026</a:t>
            </a:r>
            <a:endParaRPr lang="en-US" sz="3200" dirty="0">
              <a:solidFill>
                <a:schemeClr val="accent3"/>
              </a:solidFill>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DD948F85-DE0B-7B6C-D1EF-22E9E2257C89}"/>
              </a:ext>
            </a:extLst>
          </p:cNvPr>
          <p:cNvSpPr txBox="1"/>
          <p:nvPr/>
        </p:nvSpPr>
        <p:spPr>
          <a:xfrm>
            <a:off x="1075602" y="25720548"/>
            <a:ext cx="41632530" cy="3182112"/>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3200" b="1" i="1" dirty="0">
                <a:solidFill>
                  <a:schemeClr val="accent3"/>
                </a:solidFill>
                <a:latin typeface="Arial" panose="020B0604020202020204" pitchFamily="34" charset="0"/>
                <a:cs typeface="Arial" panose="020B0604020202020204" pitchFamily="34" charset="0"/>
              </a:rPr>
              <a:t>RESULT</a:t>
            </a:r>
          </a:p>
          <a:p>
            <a:r>
              <a:rPr lang="en-US" sz="2800" dirty="0">
                <a:latin typeface="Arial" panose="020B0604020202020204" pitchFamily="34" charset="0"/>
                <a:cs typeface="Arial" panose="020B0604020202020204" pitchFamily="34" charset="0"/>
              </a:rPr>
              <a:t>	The models evaluated were K-means 0.31, K-medoids 0.38, DBSCAN 0.53, and Fuzzy C-means 0.39. DBSCAN and Fuzzy C-means explained the data better than the others. The Davis-Bouldin index and Silhouette score showed that the optimal number of clusters is four on the three models: DBSCAN, K-medoids, and  Fuzzy C-Means. But for K-means, it is three. The cluster models have identified that household power usage is usually low, but in the mornings and evenings it is higher than at normal times. When usage is higher at 4, the voltage drops to the normal level. </a:t>
            </a:r>
          </a:p>
          <a:p>
            <a:r>
              <a:rPr lang="en-US" sz="2800" dirty="0">
                <a:latin typeface="Arial" panose="020B0604020202020204" pitchFamily="34" charset="0"/>
                <a:cs typeface="Arial" panose="020B0604020202020204" pitchFamily="34" charset="0"/>
              </a:rPr>
              <a:t> 	I used the SARIMA model because the data is stationary and has seasonality; the model explained 0.97 percent of the data. The Triple Exponential and Holt-Winters models were used so households use more power at midnight, mid-afternoon, and in the evenings. It depicts that data positive belong with time of day and power has random fluctuation.  Household past 2 hours usage depict next one hour usage and during night power usage unexpectedly peaks may be electronic devices require more power or use heaters during that time. In the next 120 minutes, household usage will drop.        </a:t>
            </a:r>
          </a:p>
          <a:p>
            <a:r>
              <a:rPr lang="en-US" sz="3200" b="1" i="1" dirty="0">
                <a:solidFill>
                  <a:schemeClr val="accent3"/>
                </a:solidFill>
                <a:latin typeface="Arial" panose="020B0604020202020204" pitchFamily="34" charset="0"/>
                <a:cs typeface="Arial" panose="020B0604020202020204" pitchFamily="34" charset="0"/>
              </a:rPr>
              <a:t>	</a:t>
            </a:r>
            <a:r>
              <a:rPr lang="en-US" sz="2800" dirty="0">
                <a:solidFill>
                  <a:schemeClr val="tx1"/>
                </a:solidFill>
                <a:latin typeface="Arial" panose="020B0604020202020204" pitchFamily="34" charset="0"/>
                <a:cs typeface="Arial" panose="020B0604020202020204" pitchFamily="34" charset="0"/>
              </a:rPr>
              <a:t> </a:t>
            </a:r>
            <a:r>
              <a:rPr lang="en-US" dirty="0"/>
              <a:t> </a:t>
            </a:r>
          </a:p>
          <a:p>
            <a:r>
              <a:rPr lang="en-US" sz="2800" dirty="0">
                <a:solidFill>
                  <a:schemeClr val="tx1"/>
                </a:solidFill>
                <a:latin typeface="Arial" panose="020B0604020202020204" pitchFamily="34" charset="0"/>
                <a:cs typeface="Arial" panose="020B0604020202020204" pitchFamily="34" charset="0"/>
              </a:rPr>
              <a:t>   </a:t>
            </a:r>
          </a:p>
        </p:txBody>
      </p:sp>
      <p:sp>
        <p:nvSpPr>
          <p:cNvPr id="24" name="TextBox 23">
            <a:extLst>
              <a:ext uri="{FF2B5EF4-FFF2-40B4-BE49-F238E27FC236}">
                <a16:creationId xmlns:a16="http://schemas.microsoft.com/office/drawing/2014/main" id="{8E256DB8-149C-03B1-B002-718E628C99C8}"/>
              </a:ext>
            </a:extLst>
          </p:cNvPr>
          <p:cNvSpPr txBox="1"/>
          <p:nvPr/>
        </p:nvSpPr>
        <p:spPr>
          <a:xfrm>
            <a:off x="1106082" y="29103683"/>
            <a:ext cx="41618562" cy="3502152"/>
          </a:xfrm>
          <a:prstGeom prst="rect">
            <a:avLst/>
          </a:prstGeom>
          <a:ln/>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sz="3200" b="1" i="1" dirty="0">
                <a:solidFill>
                  <a:schemeClr val="accent3"/>
                </a:solidFill>
                <a:latin typeface="Arial" panose="020B0604020202020204" pitchFamily="34" charset="0"/>
                <a:cs typeface="Arial" panose="020B0604020202020204" pitchFamily="34" charset="0"/>
              </a:rPr>
              <a:t>REFERENCE</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Introduction to clustering for Machine Learning, Lecture notes, CCT College Dublin;</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K-Medoid clustering for Machine Learning, Lecture notes, CCT College Dublin;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Density-based approaches for Machine Learning, Lecture notes, CCT College Dublin;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Fuzzy C-Means clustering for Machine Learning, Lecture notes, CCT College Dublin;</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ARMA and ARIMA time series or Machine Learning, Lecture notes, CCT College Dublin;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Iqbal, M.(n.d.) Exponential Smoothing Models for Machine Learning, Lecture notes, CCT College Dublin;</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UC Irvine Machine Learning </a:t>
            </a:r>
            <a:r>
              <a:rPr lang="en-US" sz="2800" dirty="0" err="1">
                <a:latin typeface="Arial" panose="020B0604020202020204" pitchFamily="34" charset="0"/>
                <a:cs typeface="Arial" panose="020B0604020202020204" pitchFamily="34" charset="0"/>
              </a:rPr>
              <a:t>Respository</a:t>
            </a:r>
            <a:r>
              <a:rPr lang="en-US" sz="2800" dirty="0">
                <a:latin typeface="Arial" panose="020B0604020202020204" pitchFamily="34" charset="0"/>
                <a:cs typeface="Arial" panose="020B0604020202020204" pitchFamily="34" charset="0"/>
              </a:rPr>
              <a:t>. </a:t>
            </a:r>
          </a:p>
          <a:p>
            <a:pPr lvl="1"/>
            <a:endParaRPr lang="en-US" sz="28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endParaRPr lang="en-US" sz="3200" b="1" i="1" dirty="0">
              <a:latin typeface="Arial" panose="020B0604020202020204" pitchFamily="34" charset="0"/>
              <a:cs typeface="Arial" panose="020B0604020202020204" pitchFamily="34" charset="0"/>
            </a:endParaRPr>
          </a:p>
          <a:p>
            <a:endParaRPr lang="en-US" sz="3200" b="1" i="1" dirty="0">
              <a:latin typeface="Arial" panose="020B0604020202020204" pitchFamily="34" charset="0"/>
              <a:cs typeface="Arial" panose="020B0604020202020204" pitchFamily="34" charset="0"/>
            </a:endParaRPr>
          </a:p>
          <a:p>
            <a:endParaRPr lang="en-US" sz="3200" b="1" i="1" dirty="0">
              <a:latin typeface="Arial" panose="020B0604020202020204" pitchFamily="34" charset="0"/>
              <a:cs typeface="Arial" panose="020B0604020202020204" pitchFamily="34" charset="0"/>
            </a:endParaRPr>
          </a:p>
          <a:p>
            <a:endParaRPr lang="en-US" sz="3200" b="1" i="1" dirty="0">
              <a:latin typeface="Arial" panose="020B0604020202020204" pitchFamily="34" charset="0"/>
              <a:cs typeface="Arial" panose="020B0604020202020204" pitchFamily="34" charset="0"/>
            </a:endParaRPr>
          </a:p>
        </p:txBody>
      </p:sp>
      <p:pic>
        <p:nvPicPr>
          <p:cNvPr id="26" name="Picture 25">
            <a:extLst>
              <a:ext uri="{FF2B5EF4-FFF2-40B4-BE49-F238E27FC236}">
                <a16:creationId xmlns:a16="http://schemas.microsoft.com/office/drawing/2014/main" id="{70059032-9A0F-D7C5-458C-FC4121B1CDBE}"/>
              </a:ext>
            </a:extLst>
          </p:cNvPr>
          <p:cNvPicPr>
            <a:picLocks noChangeAspect="1"/>
          </p:cNvPicPr>
          <p:nvPr/>
        </p:nvPicPr>
        <p:blipFill>
          <a:blip r:embed="rId4"/>
          <a:stretch>
            <a:fillRect/>
          </a:stretch>
        </p:blipFill>
        <p:spPr>
          <a:xfrm>
            <a:off x="22132778" y="7318980"/>
            <a:ext cx="7020398" cy="3309315"/>
          </a:xfrm>
          <a:prstGeom prst="rect">
            <a:avLst/>
          </a:prstGeom>
        </p:spPr>
      </p:pic>
      <p:sp>
        <p:nvSpPr>
          <p:cNvPr id="34" name="TextBox 33">
            <a:extLst>
              <a:ext uri="{FF2B5EF4-FFF2-40B4-BE49-F238E27FC236}">
                <a16:creationId xmlns:a16="http://schemas.microsoft.com/office/drawing/2014/main" id="{975525CD-935B-818C-F2F7-7814377EE05B}"/>
              </a:ext>
            </a:extLst>
          </p:cNvPr>
          <p:cNvSpPr txBox="1"/>
          <p:nvPr/>
        </p:nvSpPr>
        <p:spPr>
          <a:xfrm>
            <a:off x="29608720" y="7225685"/>
            <a:ext cx="12440013" cy="3354765"/>
          </a:xfrm>
          <a:prstGeom prst="rect">
            <a:avLst/>
          </a:prstGeom>
          <a:noFill/>
        </p:spPr>
        <p:txBody>
          <a:bodyPr wrap="square" rtlCol="0">
            <a:spAutoFit/>
          </a:bodyPr>
          <a:lstStyle/>
          <a:p>
            <a:pPr algn="just"/>
            <a:r>
              <a:rPr lang="en-US" sz="4400" dirty="0">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The data is stationary but the data is seasonal because nighttime around 10:00 PM to 1AM hour power usage reach low level as use 1 kilowatts, in despite, at 7 AM to 12PM it reaches high level again decreased 12 PM to 2 PM, then evening 5 PM to 8 PM is constantly high as use 3.3 to 3.8 kilowatt. And, autocorrelation and partial autocorrelation prove that the data has seasonality.</a:t>
            </a:r>
          </a:p>
          <a:p>
            <a:pPr algn="just"/>
            <a:endParaRPr lang="en-US" sz="2800" dirty="0">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588B8337-4A27-BEEE-367E-D5164BB4E45D}"/>
              </a:ext>
            </a:extLst>
          </p:cNvPr>
          <p:cNvSpPr txBox="1"/>
          <p:nvPr/>
        </p:nvSpPr>
        <p:spPr>
          <a:xfrm>
            <a:off x="11749373" y="7419217"/>
            <a:ext cx="9356826" cy="3970318"/>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Household electricity consumption in the morning and at night is higher, usage during those times 2.5 to 3.4. In despite of Afternoon usage reaching to lowest level. In the evening, average power consumption is 0.8. </a:t>
            </a:r>
          </a:p>
          <a:p>
            <a:pPr algn="just"/>
            <a:r>
              <a:rPr lang="en-US" sz="2800" dirty="0">
                <a:latin typeface="Arial" panose="020B0604020202020204" pitchFamily="34" charset="0"/>
                <a:cs typeface="Arial" panose="020B0604020202020204" pitchFamily="34" charset="0"/>
              </a:rPr>
              <a:t>	The elbow method and Davies-Bouldin index showed the optimal number is 4. The Silhouette score showed that 2 or 3 clusters will predict better, at 40-42 percent. </a:t>
            </a:r>
          </a:p>
          <a:p>
            <a:pPr algn="just"/>
            <a:r>
              <a:rPr lang="en-US" sz="2800" dirty="0"/>
              <a:t> </a:t>
            </a:r>
          </a:p>
          <a:p>
            <a:pPr algn="just"/>
            <a:endParaRPr lang="en-US" sz="2800" dirty="0"/>
          </a:p>
        </p:txBody>
      </p:sp>
      <p:sp>
        <p:nvSpPr>
          <p:cNvPr id="14" name="TextBox 13">
            <a:extLst>
              <a:ext uri="{FF2B5EF4-FFF2-40B4-BE49-F238E27FC236}">
                <a16:creationId xmlns:a16="http://schemas.microsoft.com/office/drawing/2014/main" id="{A19056F8-1B4B-BC97-194C-B320E5A21880}"/>
              </a:ext>
            </a:extLst>
          </p:cNvPr>
          <p:cNvSpPr txBox="1"/>
          <p:nvPr/>
        </p:nvSpPr>
        <p:spPr>
          <a:xfrm>
            <a:off x="12087765" y="14903266"/>
            <a:ext cx="9207719" cy="523220"/>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a:t>
            </a:r>
            <a:endParaRPr lang="en-US" sz="2800" dirty="0"/>
          </a:p>
        </p:txBody>
      </p:sp>
      <p:sp>
        <p:nvSpPr>
          <p:cNvPr id="18" name="TextBox 17">
            <a:extLst>
              <a:ext uri="{FF2B5EF4-FFF2-40B4-BE49-F238E27FC236}">
                <a16:creationId xmlns:a16="http://schemas.microsoft.com/office/drawing/2014/main" id="{E558EF13-864D-7CF3-64F6-F004A705B3A2}"/>
              </a:ext>
            </a:extLst>
          </p:cNvPr>
          <p:cNvSpPr txBox="1"/>
          <p:nvPr/>
        </p:nvSpPr>
        <p:spPr>
          <a:xfrm>
            <a:off x="11749373" y="12159602"/>
            <a:ext cx="9356824" cy="2677656"/>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Household power usage is usually low, between 0.0 and 0.5. Green color shows that the household voltage is higher (0.3- 1.0), but usage is around 0.3. The purple color shows that the household uses high voltage and power during that time. </a:t>
            </a:r>
          </a:p>
          <a:p>
            <a:pPr algn="just"/>
            <a:endParaRPr lang="en-US" sz="2800" dirty="0"/>
          </a:p>
        </p:txBody>
      </p:sp>
      <p:sp>
        <p:nvSpPr>
          <p:cNvPr id="23" name="TextBox 22">
            <a:extLst>
              <a:ext uri="{FF2B5EF4-FFF2-40B4-BE49-F238E27FC236}">
                <a16:creationId xmlns:a16="http://schemas.microsoft.com/office/drawing/2014/main" id="{509D64B6-8F21-20E2-F858-E3758BED5120}"/>
              </a:ext>
            </a:extLst>
          </p:cNvPr>
          <p:cNvSpPr txBox="1"/>
          <p:nvPr/>
        </p:nvSpPr>
        <p:spPr>
          <a:xfrm>
            <a:off x="11749372" y="16314451"/>
            <a:ext cx="9356825" cy="4401205"/>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The maximum K-distance is 0.4, the minimum point is 5. In case, optimal labels has four categories. Household electricity consumption usage mostly belongs to zero, which is lower power usage. In some cases, when accidentally using high electricity around 4 to 4.5, the voltage drops to a normal level. About 20 is model-identified random usage. And, the optimal cluster is four.</a:t>
            </a: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endParaRPr lang="en-US" sz="2800" dirty="0"/>
          </a:p>
        </p:txBody>
      </p:sp>
      <p:sp>
        <p:nvSpPr>
          <p:cNvPr id="31" name="TextBox 30">
            <a:extLst>
              <a:ext uri="{FF2B5EF4-FFF2-40B4-BE49-F238E27FC236}">
                <a16:creationId xmlns:a16="http://schemas.microsoft.com/office/drawing/2014/main" id="{517407AA-11D8-D3DA-78BD-5483F3112CC0}"/>
              </a:ext>
            </a:extLst>
          </p:cNvPr>
          <p:cNvSpPr txBox="1"/>
          <p:nvPr/>
        </p:nvSpPr>
        <p:spPr>
          <a:xfrm>
            <a:off x="29768427" y="11948106"/>
            <a:ext cx="12280306" cy="3970318"/>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The best value is 2,1,2, which means household electricity usage from the past 2 hours represents the next hour. </a:t>
            </a:r>
          </a:p>
          <a:p>
            <a:pPr algn="just"/>
            <a:r>
              <a:rPr lang="en-US" sz="2800" dirty="0">
                <a:latin typeface="Arial" panose="020B0604020202020204" pitchFamily="34" charset="0"/>
                <a:cs typeface="Arial" panose="020B0604020202020204" pitchFamily="34" charset="0"/>
              </a:rPr>
              <a:t>Ljung result is 0.80, the model has identified a data pattern. The household electricity consumption unexpectedly peaked during the evening and decreased late at night. Also, the histogram shows that the actual distribution is different from a normal distribution. </a:t>
            </a:r>
            <a:endParaRPr lang="en-US" sz="2800" b="1" i="1" dirty="0">
              <a:latin typeface="Arial" panose="020B0604020202020204" pitchFamily="34" charset="0"/>
              <a:cs typeface="Arial" panose="020B0604020202020204" pitchFamily="34" charset="0"/>
            </a:endParaRPr>
          </a:p>
          <a:p>
            <a:pPr algn="just"/>
            <a:r>
              <a:rPr lang="en-US" sz="2800" dirty="0">
                <a:latin typeface="Arial" panose="020B0604020202020204" pitchFamily="34" charset="0"/>
                <a:cs typeface="Arial" panose="020B0604020202020204" pitchFamily="34" charset="0"/>
              </a:rPr>
              <a:t>	The household usage will be decrease the next 120 hours. The model has explained 0.97 percent of the data.</a:t>
            </a:r>
          </a:p>
          <a:p>
            <a:pPr algn="just"/>
            <a:endParaRPr lang="en-US" sz="2800" dirty="0"/>
          </a:p>
        </p:txBody>
      </p:sp>
      <p:sp>
        <p:nvSpPr>
          <p:cNvPr id="33" name="TextBox 32">
            <a:extLst>
              <a:ext uri="{FF2B5EF4-FFF2-40B4-BE49-F238E27FC236}">
                <a16:creationId xmlns:a16="http://schemas.microsoft.com/office/drawing/2014/main" id="{A76F708C-0D2F-C1DB-4EF5-917D9917E1CA}"/>
              </a:ext>
            </a:extLst>
          </p:cNvPr>
          <p:cNvSpPr txBox="1"/>
          <p:nvPr/>
        </p:nvSpPr>
        <p:spPr>
          <a:xfrm>
            <a:off x="29608720" y="16846616"/>
            <a:ext cx="12501635" cy="4401205"/>
          </a:xfrm>
          <a:prstGeom prst="rect">
            <a:avLst/>
          </a:prstGeom>
          <a:noFill/>
        </p:spPr>
        <p:txBody>
          <a:bodyPr wrap="square" rtlCol="0">
            <a:spAutoFit/>
          </a:bodyPr>
          <a:lstStyle/>
          <a:p>
            <a:pPr algn="just"/>
            <a:r>
              <a:rPr lang="en-US" sz="2800" dirty="0">
                <a:solidFill>
                  <a:schemeClr val="bg1"/>
                </a:solidFill>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The household uses more electricity from 2 am to 4 am, 10 am, 2 to 3 pm, 6 pm, 20 pm, and 22 pm. </a:t>
            </a:r>
          </a:p>
          <a:p>
            <a:pPr algn="just"/>
            <a:r>
              <a:rPr lang="en-US" sz="2800" dirty="0">
                <a:latin typeface="Arial" panose="020B0604020202020204" pitchFamily="34" charset="0"/>
                <a:cs typeface="Arial" panose="020B0604020202020204" pitchFamily="34" charset="0"/>
              </a:rPr>
              <a:t>The first graph ignored gamma in this case: MSE 0.47, MAE 0.47, MAPE 33.33. The model depicts over-adjustment. Alpha and gamma in graph, MSE decreased fifty percent so it shows that the data has strong time-of-day behavior.</a:t>
            </a: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pPr algn="just"/>
            <a:endParaRPr lang="en-US" sz="2800" dirty="0"/>
          </a:p>
        </p:txBody>
      </p:sp>
      <p:sp>
        <p:nvSpPr>
          <p:cNvPr id="25" name="TextBox 24">
            <a:extLst>
              <a:ext uri="{FF2B5EF4-FFF2-40B4-BE49-F238E27FC236}">
                <a16:creationId xmlns:a16="http://schemas.microsoft.com/office/drawing/2014/main" id="{E3F8CBD9-C668-1102-C5E6-CD5919B57FF2}"/>
              </a:ext>
            </a:extLst>
          </p:cNvPr>
          <p:cNvSpPr txBox="1"/>
          <p:nvPr/>
        </p:nvSpPr>
        <p:spPr>
          <a:xfrm>
            <a:off x="11749372" y="21014152"/>
            <a:ext cx="9356825" cy="3539430"/>
          </a:xfrm>
          <a:prstGeom prst="rect">
            <a:avLst/>
          </a:prstGeom>
          <a:noFill/>
        </p:spPr>
        <p:txBody>
          <a:bodyPr wrap="square" rtlCol="0">
            <a:spAutoFit/>
          </a:bodyPr>
          <a:lstStyle/>
          <a:p>
            <a:pPr algn="just"/>
            <a:r>
              <a:rPr lang="en-US" sz="2800" dirty="0">
                <a:solidFill>
                  <a:schemeClr val="bg1"/>
                </a:solidFill>
                <a:latin typeface="Arial" panose="020B0604020202020204" pitchFamily="34" charset="0"/>
                <a:cs typeface="Arial" panose="020B0604020202020204" pitchFamily="34" charset="0"/>
              </a:rPr>
              <a:t>	</a:t>
            </a:r>
            <a:r>
              <a:rPr lang="en-US" sz="2800" dirty="0">
                <a:latin typeface="Arial" panose="020B0604020202020204" pitchFamily="34" charset="0"/>
                <a:cs typeface="Arial" panose="020B0604020202020204" pitchFamily="34" charset="0"/>
              </a:rPr>
              <a:t>Graph shows that massive power usage more than others but centroid recognized around 1.8. And mostly power usage around 0.3-0.7 which household power usage usually low, in other words, 70 percentage powers is low, 30 percent shows that normal usage and suddenly peak usage. </a:t>
            </a:r>
          </a:p>
          <a:p>
            <a:pPr algn="just"/>
            <a:endParaRPr lang="en-US" sz="2800" dirty="0">
              <a:latin typeface="Arial" panose="020B0604020202020204" pitchFamily="34" charset="0"/>
              <a:cs typeface="Arial" panose="020B0604020202020204" pitchFamily="34" charset="0"/>
            </a:endParaRPr>
          </a:p>
          <a:p>
            <a:pPr algn="just"/>
            <a:endParaRPr lang="en-US" sz="2800" dirty="0"/>
          </a:p>
        </p:txBody>
      </p:sp>
      <p:pic>
        <p:nvPicPr>
          <p:cNvPr id="20" name="Picture 19">
            <a:extLst>
              <a:ext uri="{FF2B5EF4-FFF2-40B4-BE49-F238E27FC236}">
                <a16:creationId xmlns:a16="http://schemas.microsoft.com/office/drawing/2014/main" id="{3ABBA862-4F13-7F7C-1B34-C9C29167F1E1}"/>
              </a:ext>
            </a:extLst>
          </p:cNvPr>
          <p:cNvPicPr>
            <a:picLocks noChangeAspect="1"/>
          </p:cNvPicPr>
          <p:nvPr/>
        </p:nvPicPr>
        <p:blipFill>
          <a:blip r:embed="rId5"/>
          <a:stretch>
            <a:fillRect/>
          </a:stretch>
        </p:blipFill>
        <p:spPr>
          <a:xfrm>
            <a:off x="1213142" y="451481"/>
            <a:ext cx="5509174" cy="1649106"/>
          </a:xfrm>
          <a:prstGeom prst="rect">
            <a:avLst/>
          </a:prstGeom>
        </p:spPr>
      </p:pic>
      <p:pic>
        <p:nvPicPr>
          <p:cNvPr id="28" name="Picture 27">
            <a:extLst>
              <a:ext uri="{FF2B5EF4-FFF2-40B4-BE49-F238E27FC236}">
                <a16:creationId xmlns:a16="http://schemas.microsoft.com/office/drawing/2014/main" id="{08470630-FAC8-EACB-B6AA-02C16E0F60F9}"/>
              </a:ext>
            </a:extLst>
          </p:cNvPr>
          <p:cNvPicPr>
            <a:picLocks noChangeAspect="1"/>
          </p:cNvPicPr>
          <p:nvPr/>
        </p:nvPicPr>
        <p:blipFill>
          <a:blip r:embed="rId6"/>
          <a:stretch>
            <a:fillRect/>
          </a:stretch>
        </p:blipFill>
        <p:spPr>
          <a:xfrm>
            <a:off x="6706686" y="7440500"/>
            <a:ext cx="4542229" cy="3225250"/>
          </a:xfrm>
          <a:prstGeom prst="rect">
            <a:avLst/>
          </a:prstGeom>
        </p:spPr>
      </p:pic>
      <p:pic>
        <p:nvPicPr>
          <p:cNvPr id="32" name="Picture 31">
            <a:extLst>
              <a:ext uri="{FF2B5EF4-FFF2-40B4-BE49-F238E27FC236}">
                <a16:creationId xmlns:a16="http://schemas.microsoft.com/office/drawing/2014/main" id="{EC7D7C3A-3020-1C2E-78F3-93EBD712CEA7}"/>
              </a:ext>
            </a:extLst>
          </p:cNvPr>
          <p:cNvPicPr>
            <a:picLocks noChangeAspect="1"/>
          </p:cNvPicPr>
          <p:nvPr/>
        </p:nvPicPr>
        <p:blipFill>
          <a:blip r:embed="rId7"/>
          <a:stretch>
            <a:fillRect/>
          </a:stretch>
        </p:blipFill>
        <p:spPr>
          <a:xfrm>
            <a:off x="1183068" y="12042535"/>
            <a:ext cx="10065848" cy="3209951"/>
          </a:xfrm>
          <a:prstGeom prst="rect">
            <a:avLst/>
          </a:prstGeom>
        </p:spPr>
      </p:pic>
      <p:pic>
        <p:nvPicPr>
          <p:cNvPr id="36" name="Picture 35">
            <a:extLst>
              <a:ext uri="{FF2B5EF4-FFF2-40B4-BE49-F238E27FC236}">
                <a16:creationId xmlns:a16="http://schemas.microsoft.com/office/drawing/2014/main" id="{BF31CDEC-8BC5-6210-72C1-D573317B74D0}"/>
              </a:ext>
            </a:extLst>
          </p:cNvPr>
          <p:cNvPicPr>
            <a:picLocks noChangeAspect="1"/>
          </p:cNvPicPr>
          <p:nvPr/>
        </p:nvPicPr>
        <p:blipFill>
          <a:blip r:embed="rId8"/>
          <a:stretch>
            <a:fillRect/>
          </a:stretch>
        </p:blipFill>
        <p:spPr>
          <a:xfrm>
            <a:off x="1189853" y="16593442"/>
            <a:ext cx="5056213" cy="2839848"/>
          </a:xfrm>
          <a:prstGeom prst="rect">
            <a:avLst/>
          </a:prstGeom>
        </p:spPr>
      </p:pic>
      <p:pic>
        <p:nvPicPr>
          <p:cNvPr id="38" name="Picture 37">
            <a:extLst>
              <a:ext uri="{FF2B5EF4-FFF2-40B4-BE49-F238E27FC236}">
                <a16:creationId xmlns:a16="http://schemas.microsoft.com/office/drawing/2014/main" id="{A144F03D-8D92-9664-8992-9473421CCEC7}"/>
              </a:ext>
            </a:extLst>
          </p:cNvPr>
          <p:cNvPicPr>
            <a:picLocks noChangeAspect="1"/>
          </p:cNvPicPr>
          <p:nvPr/>
        </p:nvPicPr>
        <p:blipFill>
          <a:blip r:embed="rId9"/>
          <a:stretch>
            <a:fillRect/>
          </a:stretch>
        </p:blipFill>
        <p:spPr>
          <a:xfrm>
            <a:off x="6408217" y="16593442"/>
            <a:ext cx="4840698" cy="2839848"/>
          </a:xfrm>
          <a:prstGeom prst="rect">
            <a:avLst/>
          </a:prstGeom>
        </p:spPr>
      </p:pic>
      <p:pic>
        <p:nvPicPr>
          <p:cNvPr id="40" name="Picture 39">
            <a:extLst>
              <a:ext uri="{FF2B5EF4-FFF2-40B4-BE49-F238E27FC236}">
                <a16:creationId xmlns:a16="http://schemas.microsoft.com/office/drawing/2014/main" id="{77878FE4-CB66-23E3-6928-CF85026A038C}"/>
              </a:ext>
            </a:extLst>
          </p:cNvPr>
          <p:cNvPicPr>
            <a:picLocks noChangeAspect="1"/>
          </p:cNvPicPr>
          <p:nvPr/>
        </p:nvPicPr>
        <p:blipFill>
          <a:blip r:embed="rId10"/>
          <a:stretch>
            <a:fillRect/>
          </a:stretch>
        </p:blipFill>
        <p:spPr>
          <a:xfrm>
            <a:off x="1213142" y="21014152"/>
            <a:ext cx="10035773" cy="3584160"/>
          </a:xfrm>
          <a:prstGeom prst="rect">
            <a:avLst/>
          </a:prstGeom>
        </p:spPr>
      </p:pic>
      <p:pic>
        <p:nvPicPr>
          <p:cNvPr id="42" name="Picture 41">
            <a:extLst>
              <a:ext uri="{FF2B5EF4-FFF2-40B4-BE49-F238E27FC236}">
                <a16:creationId xmlns:a16="http://schemas.microsoft.com/office/drawing/2014/main" id="{2E79E312-7807-5AF4-1CD7-B9749D01D6CA}"/>
              </a:ext>
            </a:extLst>
          </p:cNvPr>
          <p:cNvPicPr>
            <a:picLocks noChangeAspect="1"/>
          </p:cNvPicPr>
          <p:nvPr/>
        </p:nvPicPr>
        <p:blipFill>
          <a:blip r:embed="rId11"/>
          <a:stretch>
            <a:fillRect/>
          </a:stretch>
        </p:blipFill>
        <p:spPr>
          <a:xfrm>
            <a:off x="22132778" y="12042535"/>
            <a:ext cx="7020398" cy="3383951"/>
          </a:xfrm>
          <a:prstGeom prst="rect">
            <a:avLst/>
          </a:prstGeom>
        </p:spPr>
      </p:pic>
      <p:pic>
        <p:nvPicPr>
          <p:cNvPr id="43" name="Picture 42">
            <a:extLst>
              <a:ext uri="{FF2B5EF4-FFF2-40B4-BE49-F238E27FC236}">
                <a16:creationId xmlns:a16="http://schemas.microsoft.com/office/drawing/2014/main" id="{4C0E9302-5F8E-997D-321E-29E202B29224}"/>
              </a:ext>
            </a:extLst>
          </p:cNvPr>
          <p:cNvPicPr>
            <a:picLocks noChangeAspect="1"/>
          </p:cNvPicPr>
          <p:nvPr/>
        </p:nvPicPr>
        <p:blipFill>
          <a:blip r:embed="rId12"/>
          <a:stretch>
            <a:fillRect/>
          </a:stretch>
        </p:blipFill>
        <p:spPr>
          <a:xfrm>
            <a:off x="22132777" y="16846616"/>
            <a:ext cx="7020397" cy="3383951"/>
          </a:xfrm>
          <a:prstGeom prst="rect">
            <a:avLst/>
          </a:prstGeom>
        </p:spPr>
      </p:pic>
      <p:sp>
        <p:nvSpPr>
          <p:cNvPr id="45" name="TextBox 44">
            <a:extLst>
              <a:ext uri="{FF2B5EF4-FFF2-40B4-BE49-F238E27FC236}">
                <a16:creationId xmlns:a16="http://schemas.microsoft.com/office/drawing/2014/main" id="{5F3C63DB-3A71-2E0C-5693-A7F5723FEC91}"/>
              </a:ext>
            </a:extLst>
          </p:cNvPr>
          <p:cNvSpPr txBox="1"/>
          <p:nvPr/>
        </p:nvSpPr>
        <p:spPr>
          <a:xfrm>
            <a:off x="29608720" y="21599611"/>
            <a:ext cx="12677493" cy="2739211"/>
          </a:xfrm>
          <a:prstGeom prst="rect">
            <a:avLst/>
          </a:prstGeom>
          <a:noFill/>
        </p:spPr>
        <p:txBody>
          <a:bodyPr wrap="square" rtlCol="0">
            <a:spAutoFit/>
          </a:bodyPr>
          <a:lstStyle/>
          <a:p>
            <a:pPr algn="just"/>
            <a:r>
              <a:rPr lang="en-US" sz="2800" dirty="0">
                <a:latin typeface="Arial" panose="020B0604020202020204" pitchFamily="34" charset="0"/>
                <a:cs typeface="Arial" panose="020B0604020202020204" pitchFamily="34" charset="0"/>
              </a:rPr>
              <a:t>	24 hours, the smoothing level is one, the trend is zero, and seasonality is very close to zero. The household power usage has random peaks and lows. </a:t>
            </a: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a:p>
            <a:pPr algn="just"/>
            <a:endParaRPr lang="en-US" sz="2800" dirty="0">
              <a:latin typeface="Arial" panose="020B0604020202020204" pitchFamily="34" charset="0"/>
              <a:cs typeface="Arial" panose="020B0604020202020204" pitchFamily="34" charset="0"/>
            </a:endParaRPr>
          </a:p>
        </p:txBody>
      </p:sp>
      <p:pic>
        <p:nvPicPr>
          <p:cNvPr id="47" name="Picture 46">
            <a:extLst>
              <a:ext uri="{FF2B5EF4-FFF2-40B4-BE49-F238E27FC236}">
                <a16:creationId xmlns:a16="http://schemas.microsoft.com/office/drawing/2014/main" id="{B6491A8C-9729-8999-1B73-CAD8C89856F9}"/>
              </a:ext>
            </a:extLst>
          </p:cNvPr>
          <p:cNvPicPr>
            <a:picLocks noChangeAspect="1"/>
          </p:cNvPicPr>
          <p:nvPr/>
        </p:nvPicPr>
        <p:blipFill>
          <a:blip r:embed="rId13"/>
          <a:stretch>
            <a:fillRect/>
          </a:stretch>
        </p:blipFill>
        <p:spPr>
          <a:xfrm>
            <a:off x="22132776" y="21532290"/>
            <a:ext cx="7020397" cy="3209951"/>
          </a:xfrm>
          <a:prstGeom prst="rect">
            <a:avLst/>
          </a:prstGeom>
        </p:spPr>
      </p:pic>
    </p:spTree>
    <p:extLst>
      <p:ext uri="{BB962C8B-B14F-4D97-AF65-F5344CB8AC3E}">
        <p14:creationId xmlns:p14="http://schemas.microsoft.com/office/powerpoint/2010/main" val="1098259038"/>
      </p:ext>
    </p:extLst>
  </p:cSld>
  <p:clrMapOvr>
    <a:masterClrMapping/>
  </p:clrMapOvr>
</p:sld>
</file>

<file path=ppt/theme/theme1.xml><?xml version="1.0" encoding="utf-8"?>
<a:theme xmlns:a="http://schemas.openxmlformats.org/drawingml/2006/main" name="Office Them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2392</TotalTime>
  <Words>1009</Words>
  <Application>Microsoft Office PowerPoint</Application>
  <PresentationFormat>Custom</PresentationFormat>
  <Paragraphs>118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enkhbayasgalan batbayar</dc:creator>
  <cp:lastModifiedBy>enkhbayasgalan batbayar</cp:lastModifiedBy>
  <cp:revision>16</cp:revision>
  <dcterms:created xsi:type="dcterms:W3CDTF">2026-10-10T11:54:27Z</dcterms:created>
  <dcterms:modified xsi:type="dcterms:W3CDTF">2026-10-23T14:48:46Z</dcterms:modified>
</cp:coreProperties>
</file>