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94660"/>
  </p:normalViewPr>
  <p:slideViewPr>
    <p:cSldViewPr snapToGrid="0">
      <p:cViewPr>
        <p:scale>
          <a:sx n="25" d="100"/>
          <a:sy n="25" d="100"/>
        </p:scale>
        <p:origin x="-3413"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CA1C7C-A57E-4601-A266-C84919E8106A}"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4255894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A1C7C-A57E-4601-A266-C84919E8106A}"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2889320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CA1C7C-A57E-4601-A266-C84919E8106A}"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3962839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CA1C7C-A57E-4601-A266-C84919E8106A}"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1749218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CA1C7C-A57E-4601-A266-C84919E8106A}"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1722165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CA1C7C-A57E-4601-A266-C84919E8106A}"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986658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CA1C7C-A57E-4601-A266-C84919E8106A}"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3991270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BACA1C7C-A57E-4601-A266-C84919E8106A}"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301393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BACA1C7C-A57E-4601-A266-C84919E8106A}"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3224773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A1C7C-A57E-4601-A266-C84919E8106A}"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1211432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A1C7C-A57E-4601-A266-C84919E8106A}"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2393F-D8CA-435B-93C0-1CBDA6DAA8DF}" type="slidenum">
              <a:rPr lang="en-US" smtClean="0"/>
              <a:t>‹#›</a:t>
            </a:fld>
            <a:endParaRPr lang="en-US"/>
          </a:p>
        </p:txBody>
      </p:sp>
    </p:spTree>
    <p:extLst>
      <p:ext uri="{BB962C8B-B14F-4D97-AF65-F5344CB8AC3E}">
        <p14:creationId xmlns:p14="http://schemas.microsoft.com/office/powerpoint/2010/main" val="848832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BACA1C7C-A57E-4601-A266-C84919E8106A}" type="datetimeFigureOut">
              <a:rPr lang="en-US" smtClean="0"/>
              <a:t>10/12/2026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5152393F-D8CA-435B-93C0-1CBDA6DAA8DF}" type="slidenum">
              <a:rPr lang="en-US" smtClean="0"/>
              <a:t>‹#›</a:t>
            </a:fld>
            <a:endParaRPr lang="en-US"/>
          </a:p>
        </p:txBody>
      </p:sp>
    </p:spTree>
    <p:extLst>
      <p:ext uri="{BB962C8B-B14F-4D97-AF65-F5344CB8AC3E}">
        <p14:creationId xmlns:p14="http://schemas.microsoft.com/office/powerpoint/2010/main" val="403715747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D8F9F5-399E-E2C8-E3A0-708A83B18A8E}"/>
              </a:ext>
            </a:extLst>
          </p:cNvPr>
          <p:cNvSpPr txBox="1"/>
          <p:nvPr/>
        </p:nvSpPr>
        <p:spPr>
          <a:xfrm>
            <a:off x="1318610" y="1982413"/>
            <a:ext cx="12092590" cy="9233297"/>
          </a:xfrm>
          <a:prstGeom prst="rect">
            <a:avLst/>
          </a:prstGeom>
          <a:noFill/>
        </p:spPr>
        <p:txBody>
          <a:bodyPr wrap="square" rtlCol="0">
            <a:spAutoFit/>
          </a:bodyPr>
          <a:lstStyle/>
          <a:p>
            <a:pPr algn="just"/>
            <a:r>
              <a:rPr lang="en-US" sz="3600" dirty="0">
                <a:latin typeface="Arial" panose="020B0604020202020204" pitchFamily="34" charset="0"/>
                <a:cs typeface="Arial" panose="020B0604020202020204" pitchFamily="34" charset="0"/>
              </a:rPr>
              <a:t>Data has been collected from UC Irvine and originally has 2.07 million rows and 9 columns.</a:t>
            </a:r>
          </a:p>
          <a:p>
            <a:pPr algn="just"/>
            <a:r>
              <a:rPr lang="en-US" sz="3600" dirty="0">
                <a:latin typeface="Arial" panose="020B0604020202020204" pitchFamily="34" charset="0"/>
                <a:cs typeface="Arial" panose="020B0604020202020204" pitchFamily="34" charset="0"/>
              </a:rPr>
              <a:t>Measuremets of electric power consumption in just one household with a one minute sampling rate over a period in Dec.2006 to Nov.2010. It shows different electrical quantities and some sub-metering values which kitchen stuffs, laundry room and water heater and air conditioner. This data represents household electricity consumption by one household usage so it will be include housing data category. But the data uploaded has 1.04 million rows, 9 columns for two years due to computer did not have enough raw. In the future, results will be based on the uploaded data.</a:t>
            </a:r>
          </a:p>
          <a:p>
            <a:pPr algn="just"/>
            <a:r>
              <a:rPr lang="en-US" sz="3600" dirty="0">
                <a:latin typeface="Arial" panose="020B0604020202020204" pitchFamily="34" charset="0"/>
                <a:cs typeface="Arial" panose="020B0604020202020204" pitchFamily="34" charset="0"/>
              </a:rPr>
              <a:t>Household electricity consumption patterns have been identified by clusters, and electricity consumption is projected to increase until 2028 by time series model.  </a:t>
            </a:r>
          </a:p>
          <a:p>
            <a:endParaRPr lang="en-US" dirty="0"/>
          </a:p>
        </p:txBody>
      </p:sp>
      <p:sp>
        <p:nvSpPr>
          <p:cNvPr id="6" name="TextBox 5">
            <a:extLst>
              <a:ext uri="{FF2B5EF4-FFF2-40B4-BE49-F238E27FC236}">
                <a16:creationId xmlns:a16="http://schemas.microsoft.com/office/drawing/2014/main" id="{1E5B043E-F281-0978-1A7D-D75DC444ABFE}"/>
              </a:ext>
            </a:extLst>
          </p:cNvPr>
          <p:cNvSpPr txBox="1"/>
          <p:nvPr/>
        </p:nvSpPr>
        <p:spPr>
          <a:xfrm>
            <a:off x="1318608" y="11029574"/>
            <a:ext cx="12092590" cy="7140416"/>
          </a:xfrm>
          <a:prstGeom prst="rect">
            <a:avLst/>
          </a:prstGeom>
          <a:noFill/>
        </p:spPr>
        <p:txBody>
          <a:bodyPr wrap="square" rtlCol="0">
            <a:spAutoFit/>
          </a:bodyPr>
          <a:lstStyle/>
          <a:p>
            <a:pPr algn="just"/>
            <a:r>
              <a:rPr lang="en-US" sz="4000" b="1" dirty="0">
                <a:latin typeface="Arial" panose="020B0604020202020204" pitchFamily="34" charset="0"/>
                <a:cs typeface="Arial" panose="020B0604020202020204" pitchFamily="34" charset="0"/>
              </a:rPr>
              <a:t>METHOD</a:t>
            </a:r>
          </a:p>
          <a:p>
            <a:pPr algn="just"/>
            <a:r>
              <a:rPr lang="en-US" sz="3600" dirty="0">
                <a:latin typeface="Arial" panose="020B0604020202020204" pitchFamily="34" charset="0"/>
                <a:cs typeface="Arial" panose="020B0604020202020204" pitchFamily="34" charset="0"/>
              </a:rPr>
              <a:t>Missing values have been filled with the median. Data includes every single minute of electricity consumption, so it has been converted into four categories Morning, Afternoon, Evening, and Night. And I used </a:t>
            </a:r>
            <a:r>
              <a:rPr lang="en-US" sz="3600" dirty="0" err="1">
                <a:latin typeface="Arial" panose="020B0604020202020204" pitchFamily="34" charset="0"/>
                <a:cs typeface="Arial" panose="020B0604020202020204" pitchFamily="34" charset="0"/>
              </a:rPr>
              <a:t>StandardScaler</a:t>
            </a:r>
            <a:r>
              <a:rPr lang="en-US" sz="3600" dirty="0">
                <a:latin typeface="Arial" panose="020B0604020202020204" pitchFamily="34" charset="0"/>
                <a:cs typeface="Arial" panose="020B0604020202020204" pitchFamily="34" charset="0"/>
              </a:rPr>
              <a:t> because the data was in different units and had different variables. Used 4 clustering models which K-means, K-</a:t>
            </a:r>
            <a:r>
              <a:rPr lang="en-US" sz="3600" dirty="0" err="1">
                <a:latin typeface="Arial" panose="020B0604020202020204" pitchFamily="34" charset="0"/>
                <a:cs typeface="Arial" panose="020B0604020202020204" pitchFamily="34" charset="0"/>
              </a:rPr>
              <a:t>meidod</a:t>
            </a:r>
            <a:r>
              <a:rPr lang="en-US" sz="3600" dirty="0">
                <a:latin typeface="Arial" panose="020B0604020202020204" pitchFamily="34" charset="0"/>
                <a:cs typeface="Arial" panose="020B0604020202020204" pitchFamily="34" charset="0"/>
              </a:rPr>
              <a:t>, DSCCAN, FUZZYC-</a:t>
            </a:r>
            <a:r>
              <a:rPr lang="en-US" sz="3600" dirty="0" err="1">
                <a:latin typeface="Arial" panose="020B0604020202020204" pitchFamily="34" charset="0"/>
                <a:cs typeface="Arial" panose="020B0604020202020204" pitchFamily="34" charset="0"/>
              </a:rPr>
              <a:t>menas</a:t>
            </a:r>
            <a:r>
              <a:rPr lang="en-US" sz="3600" dirty="0">
                <a:latin typeface="Arial" panose="020B0604020202020204" pitchFamily="34" charset="0"/>
                <a:cs typeface="Arial" panose="020B0604020202020204" pitchFamily="34" charset="0"/>
              </a:rPr>
              <a:t> and SARIMA , Holt-Winters Exponential Smoothing for Time Series. </a:t>
            </a:r>
          </a:p>
          <a:p>
            <a:pPr algn="just"/>
            <a:endParaRPr lang="en-US" sz="4400" dirty="0">
              <a:latin typeface="Arial" panose="020B0604020202020204" pitchFamily="34" charset="0"/>
              <a:cs typeface="Arial" panose="020B0604020202020204" pitchFamily="34" charset="0"/>
            </a:endParaRPr>
          </a:p>
          <a:p>
            <a:endParaRPr lang="en-US" sz="5400" dirty="0">
              <a:latin typeface="Arial" panose="020B0604020202020204" pitchFamily="34" charset="0"/>
              <a:cs typeface="Arial" panose="020B0604020202020204" pitchFamily="34" charset="0"/>
            </a:endParaRPr>
          </a:p>
          <a:p>
            <a:endParaRPr lang="en-US" dirty="0"/>
          </a:p>
        </p:txBody>
      </p:sp>
      <p:sp>
        <p:nvSpPr>
          <p:cNvPr id="11" name="TextBox 10">
            <a:extLst>
              <a:ext uri="{FF2B5EF4-FFF2-40B4-BE49-F238E27FC236}">
                <a16:creationId xmlns:a16="http://schemas.microsoft.com/office/drawing/2014/main" id="{BEBB7CD1-7C60-106E-4903-8727E166C437}"/>
              </a:ext>
            </a:extLst>
          </p:cNvPr>
          <p:cNvSpPr txBox="1"/>
          <p:nvPr/>
        </p:nvSpPr>
        <p:spPr>
          <a:xfrm>
            <a:off x="1318608" y="16095459"/>
            <a:ext cx="12843162" cy="2554545"/>
          </a:xfrm>
          <a:prstGeom prst="rect">
            <a:avLst/>
          </a:prstGeom>
          <a:noFill/>
        </p:spPr>
        <p:txBody>
          <a:bodyPr wrap="square" rtlCol="0">
            <a:spAutoFit/>
          </a:bodyPr>
          <a:lstStyle/>
          <a:p>
            <a:pPr algn="just"/>
            <a:r>
              <a:rPr lang="en-US" sz="4000" b="1" dirty="0">
                <a:latin typeface="Arial" panose="020B0604020202020204" pitchFamily="34" charset="0"/>
                <a:cs typeface="Arial" panose="020B0604020202020204" pitchFamily="34" charset="0"/>
              </a:rPr>
              <a:t>DESCRIBE STATISTICS AND GRAPHS</a:t>
            </a:r>
          </a:p>
          <a:p>
            <a:pPr algn="just"/>
            <a:endParaRPr lang="en-US" sz="4400" dirty="0">
              <a:latin typeface="Arial" panose="020B0604020202020204" pitchFamily="34" charset="0"/>
              <a:cs typeface="Arial" panose="020B0604020202020204" pitchFamily="34" charset="0"/>
            </a:endParaRPr>
          </a:p>
          <a:p>
            <a:endParaRPr lang="en-US" sz="5400" dirty="0">
              <a:latin typeface="Arial" panose="020B0604020202020204" pitchFamily="34" charset="0"/>
              <a:cs typeface="Arial" panose="020B0604020202020204" pitchFamily="34" charset="0"/>
            </a:endParaRPr>
          </a:p>
          <a:p>
            <a:endParaRPr lang="en-US" dirty="0"/>
          </a:p>
        </p:txBody>
      </p:sp>
      <p:sp>
        <p:nvSpPr>
          <p:cNvPr id="13" name="TextBox 12">
            <a:extLst>
              <a:ext uri="{FF2B5EF4-FFF2-40B4-BE49-F238E27FC236}">
                <a16:creationId xmlns:a16="http://schemas.microsoft.com/office/drawing/2014/main" id="{A655674C-B556-1F71-8536-CF9B72101D5F}"/>
              </a:ext>
            </a:extLst>
          </p:cNvPr>
          <p:cNvSpPr txBox="1"/>
          <p:nvPr/>
        </p:nvSpPr>
        <p:spPr>
          <a:xfrm>
            <a:off x="15610612" y="997528"/>
            <a:ext cx="12843162" cy="984885"/>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rPr>
              <a:t>CLUSTERING MODELS RESULTS</a:t>
            </a:r>
          </a:p>
          <a:p>
            <a:endParaRPr lang="en-US" dirty="0"/>
          </a:p>
        </p:txBody>
      </p:sp>
      <p:sp>
        <p:nvSpPr>
          <p:cNvPr id="15" name="TextBox 14">
            <a:extLst>
              <a:ext uri="{FF2B5EF4-FFF2-40B4-BE49-F238E27FC236}">
                <a16:creationId xmlns:a16="http://schemas.microsoft.com/office/drawing/2014/main" id="{D760D43C-87C9-C848-E3BD-1FB57D93AE65}"/>
              </a:ext>
            </a:extLst>
          </p:cNvPr>
          <p:cNvSpPr txBox="1"/>
          <p:nvPr/>
        </p:nvSpPr>
        <p:spPr>
          <a:xfrm>
            <a:off x="30123938" y="956652"/>
            <a:ext cx="12843162" cy="707886"/>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rPr>
              <a:t>TEST AND SARIMA MODEL RESULTS</a:t>
            </a:r>
          </a:p>
        </p:txBody>
      </p:sp>
      <p:sp>
        <p:nvSpPr>
          <p:cNvPr id="16" name="TextBox 15">
            <a:extLst>
              <a:ext uri="{FF2B5EF4-FFF2-40B4-BE49-F238E27FC236}">
                <a16:creationId xmlns:a16="http://schemas.microsoft.com/office/drawing/2014/main" id="{35A6CD5A-BA0C-269D-1374-0EBB621D2256}"/>
              </a:ext>
            </a:extLst>
          </p:cNvPr>
          <p:cNvSpPr txBox="1"/>
          <p:nvPr/>
        </p:nvSpPr>
        <p:spPr>
          <a:xfrm>
            <a:off x="15524019" y="1982413"/>
            <a:ext cx="12487101" cy="32408872"/>
          </a:xfrm>
          <a:prstGeom prst="rect">
            <a:avLst/>
          </a:prstGeom>
          <a:noFill/>
        </p:spPr>
        <p:txBody>
          <a:bodyPr wrap="square" rtlCol="0">
            <a:spAutoFit/>
          </a:bodyPr>
          <a:lstStyle/>
          <a:p>
            <a:pPr algn="just"/>
            <a:r>
              <a:rPr lang="en-US" sz="3600" b="1" dirty="0">
                <a:latin typeface="Arial" panose="020B0604020202020204" pitchFamily="34" charset="0"/>
                <a:cs typeface="Arial" panose="020B0604020202020204" pitchFamily="34" charset="0"/>
              </a:rPr>
              <a:t>K-means</a:t>
            </a:r>
            <a:endParaRPr lang="en-US" sz="4800" b="1" dirty="0">
              <a:latin typeface="Arial" panose="020B0604020202020204" pitchFamily="34" charset="0"/>
              <a:cs typeface="Arial" panose="020B0604020202020204" pitchFamily="34" charset="0"/>
            </a:endParaRPr>
          </a:p>
          <a:p>
            <a:pPr algn="just"/>
            <a:r>
              <a:rPr lang="en-US" sz="4800"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Data has been clustered into 4 groups. Household electricity consumption in the morning and at night is higher than in the afternoon and evening, with even more usage during that time average power consumption is 2.5 to 3.4. In despite of Afternoon usage reaching to lowest level. During the evening, average power consumption is 0.8. </a:t>
            </a:r>
          </a:p>
          <a:p>
            <a:pPr algn="just"/>
            <a:r>
              <a:rPr lang="en-US" sz="4800" dirty="0">
                <a:latin typeface="Arial" panose="020B0604020202020204" pitchFamily="34" charset="0"/>
                <a:cs typeface="Arial" panose="020B0604020202020204" pitchFamily="34" charset="0"/>
              </a:rPr>
              <a:t>																								</a:t>
            </a:r>
          </a:p>
          <a:p>
            <a:pPr algn="just"/>
            <a:endParaRPr lang="en-US" sz="48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a:p>
            <a:pPr algn="just"/>
            <a:r>
              <a:rPr lang="en-US" sz="3600" dirty="0">
                <a:latin typeface="Arial" panose="020B0604020202020204" pitchFamily="34" charset="0"/>
                <a:cs typeface="Arial" panose="020B0604020202020204" pitchFamily="34" charset="0"/>
              </a:rPr>
              <a:t>The elbow method and Silhouette score were used to determine how many clusters suit the data. The elbow mothed showed optimal cluster number is 4. The Silhouette score showed that 3 clusters will predict better, at 42 percent. </a:t>
            </a:r>
          </a:p>
          <a:p>
            <a:pPr algn="just"/>
            <a:r>
              <a:rPr lang="en-US" sz="3600" b="1" dirty="0">
                <a:latin typeface="Arial" panose="020B0604020202020204" pitchFamily="34" charset="0"/>
                <a:cs typeface="Arial" panose="020B0604020202020204" pitchFamily="34" charset="0"/>
              </a:rPr>
              <a:t>K-</a:t>
            </a:r>
            <a:r>
              <a:rPr lang="en-US" sz="3600" b="1" dirty="0" err="1">
                <a:latin typeface="Arial" panose="020B0604020202020204" pitchFamily="34" charset="0"/>
                <a:cs typeface="Arial" panose="020B0604020202020204" pitchFamily="34" charset="0"/>
              </a:rPr>
              <a:t>Meidod</a:t>
            </a:r>
            <a:endParaRPr lang="en-US" sz="3600" b="1" dirty="0">
              <a:latin typeface="Arial" panose="020B0604020202020204" pitchFamily="34" charset="0"/>
              <a:cs typeface="Arial" panose="020B0604020202020204" pitchFamily="34" charset="0"/>
            </a:endParaRPr>
          </a:p>
          <a:p>
            <a:pPr algn="just"/>
            <a:r>
              <a:rPr lang="en-US" sz="3600" dirty="0">
                <a:latin typeface="Arial" panose="020B0604020202020204" pitchFamily="34" charset="0"/>
                <a:cs typeface="Arial" panose="020B0604020202020204" pitchFamily="34" charset="0"/>
              </a:rPr>
              <a:t>Data has clustered into four categories, where nighttime electricity consumption is low, and morning and evening are significantly increased. </a:t>
            </a:r>
          </a:p>
          <a:p>
            <a:pPr algn="just"/>
            <a:r>
              <a:rPr lang="en-US" sz="3600" b="1" dirty="0">
                <a:latin typeface="Arial" panose="020B0604020202020204" pitchFamily="34" charset="0"/>
                <a:cs typeface="Arial" panose="020B0604020202020204" pitchFamily="34" charset="0"/>
              </a:rPr>
              <a:t>DBSCAN</a:t>
            </a:r>
            <a:r>
              <a:rPr lang="en-US" sz="4800" b="1" dirty="0">
                <a:latin typeface="Arial" panose="020B0604020202020204" pitchFamily="34" charset="0"/>
                <a:cs typeface="Arial" panose="020B0604020202020204" pitchFamily="34" charset="0"/>
              </a:rPr>
              <a:t> </a:t>
            </a:r>
          </a:p>
          <a:p>
            <a:pPr algn="just"/>
            <a:r>
              <a:rPr lang="en-US" sz="3600" dirty="0">
                <a:latin typeface="Arial" panose="020B0604020202020204" pitchFamily="34" charset="0"/>
                <a:cs typeface="Arial" panose="020B0604020202020204" pitchFamily="34" charset="0"/>
              </a:rPr>
              <a:t>Maximum K-distance is 0.4, min points are 6. In case, optimal labels has three </a:t>
            </a:r>
            <a:r>
              <a:rPr lang="en-US" sz="3600" dirty="0" err="1">
                <a:latin typeface="Arial" panose="020B0604020202020204" pitchFamily="34" charset="0"/>
                <a:cs typeface="Arial" panose="020B0604020202020204" pitchFamily="34" charset="0"/>
              </a:rPr>
              <a:t>categoriesories</a:t>
            </a:r>
            <a:r>
              <a:rPr lang="en-US" sz="3600" dirty="0">
                <a:latin typeface="Arial" panose="020B0604020202020204" pitchFamily="34" charset="0"/>
                <a:cs typeface="Arial" panose="020B0604020202020204" pitchFamily="34" charset="0"/>
              </a:rPr>
              <a:t> which 0 is 963, minus 1 is 30, 1 is 7. Household electricity consumption is usually lower. In some cases, when accidentally using high electricity around 4 to 4.5, the voltage is dropped to a normal level. About 30 is model-identified random usage.</a:t>
            </a: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b="1" dirty="0">
              <a:latin typeface="Arial" panose="020B0604020202020204" pitchFamily="34" charset="0"/>
              <a:cs typeface="Arial" panose="020B0604020202020204" pitchFamily="34" charset="0"/>
            </a:endParaRPr>
          </a:p>
          <a:p>
            <a:pPr algn="just"/>
            <a:r>
              <a:rPr lang="en-US" sz="3600" b="1" dirty="0">
                <a:latin typeface="Arial" panose="020B0604020202020204" pitchFamily="34" charset="0"/>
                <a:cs typeface="Arial" panose="020B0604020202020204" pitchFamily="34" charset="0"/>
              </a:rPr>
              <a:t>FUZZY C-Means</a:t>
            </a:r>
          </a:p>
          <a:p>
            <a:pPr algn="just"/>
            <a:r>
              <a:rPr lang="en-US" sz="3600" dirty="0">
                <a:latin typeface="Arial" panose="020B0604020202020204" pitchFamily="34" charset="0"/>
                <a:cs typeface="Arial" panose="020B0604020202020204" pitchFamily="34" charset="0"/>
              </a:rPr>
              <a:t>Graph shows that massive power usage more than others but centroid recognized around 1.8. And mostly power usage around 0.3-0.7 which household power usage usually low, in other words, 70 percentage powers is low, 30 percent shows that normal usage and suddenly peak usage. </a:t>
            </a: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a:p>
            <a:pPr algn="just"/>
            <a:r>
              <a:rPr lang="en-US" sz="4800" dirty="0">
                <a:latin typeface="Arial" panose="020B0604020202020204" pitchFamily="34" charset="0"/>
                <a:cs typeface="Arial" panose="020B0604020202020204" pitchFamily="34" charset="0"/>
              </a:rPr>
              <a:t>Graphs and compare the clusters and choose 2 and compare again, which cluster your </a:t>
            </a:r>
            <a:r>
              <a:rPr lang="en-US" sz="4800" dirty="0" err="1">
                <a:latin typeface="Arial" panose="020B0604020202020204" pitchFamily="34" charset="0"/>
                <a:cs typeface="Arial" panose="020B0604020202020204" pitchFamily="34" charset="0"/>
              </a:rPr>
              <a:t>gonna</a:t>
            </a:r>
            <a:r>
              <a:rPr lang="en-US" sz="4800" dirty="0">
                <a:latin typeface="Arial" panose="020B0604020202020204" pitchFamily="34" charset="0"/>
                <a:cs typeface="Arial" panose="020B0604020202020204" pitchFamily="34" charset="0"/>
              </a:rPr>
              <a:t> use, </a:t>
            </a:r>
            <a:r>
              <a:rPr lang="en-US" sz="4800" dirty="0" err="1">
                <a:latin typeface="Arial" panose="020B0604020202020204" pitchFamily="34" charset="0"/>
                <a:cs typeface="Arial" panose="020B0604020202020204" pitchFamily="34" charset="0"/>
              </a:rPr>
              <a:t>silhoute</a:t>
            </a:r>
            <a:r>
              <a:rPr lang="en-US" sz="4800" dirty="0">
                <a:latin typeface="Arial" panose="020B0604020202020204" pitchFamily="34" charset="0"/>
                <a:cs typeface="Arial" panose="020B0604020202020204" pitchFamily="34" charset="0"/>
              </a:rPr>
              <a:t> and </a:t>
            </a:r>
            <a:r>
              <a:rPr lang="en-US" sz="4800" dirty="0" err="1">
                <a:latin typeface="Arial" panose="020B0604020202020204" pitchFamily="34" charset="0"/>
                <a:cs typeface="Arial" panose="020B0604020202020204" pitchFamily="34" charset="0"/>
              </a:rPr>
              <a:t>davis</a:t>
            </a:r>
            <a:r>
              <a:rPr lang="en-US" sz="4800" dirty="0">
                <a:latin typeface="Arial" panose="020B0604020202020204" pitchFamily="34" charset="0"/>
                <a:cs typeface="Arial" panose="020B0604020202020204" pitchFamily="34" charset="0"/>
              </a:rPr>
              <a:t> what are difference? And compare result.</a:t>
            </a:r>
          </a:p>
          <a:p>
            <a:pPr algn="just"/>
            <a:r>
              <a:rPr lang="en-US" sz="4800" dirty="0">
                <a:latin typeface="Arial" panose="020B0604020202020204" pitchFamily="34" charset="0"/>
                <a:cs typeface="Arial" panose="020B0604020202020204" pitchFamily="34" charset="0"/>
              </a:rPr>
              <a:t> </a:t>
            </a:r>
          </a:p>
        </p:txBody>
      </p:sp>
      <p:pic>
        <p:nvPicPr>
          <p:cNvPr id="20" name="Picture 19">
            <a:extLst>
              <a:ext uri="{FF2B5EF4-FFF2-40B4-BE49-F238E27FC236}">
                <a16:creationId xmlns:a16="http://schemas.microsoft.com/office/drawing/2014/main" id="{2A53945F-AE64-5717-900A-CD159C660819}"/>
              </a:ext>
            </a:extLst>
          </p:cNvPr>
          <p:cNvPicPr>
            <a:picLocks noChangeAspect="1"/>
          </p:cNvPicPr>
          <p:nvPr/>
        </p:nvPicPr>
        <p:blipFill>
          <a:blip r:embed="rId2"/>
          <a:stretch>
            <a:fillRect/>
          </a:stretch>
        </p:blipFill>
        <p:spPr>
          <a:xfrm>
            <a:off x="22088648" y="5852491"/>
            <a:ext cx="5216235" cy="3634455"/>
          </a:xfrm>
          <a:prstGeom prst="rect">
            <a:avLst/>
          </a:prstGeom>
        </p:spPr>
      </p:pic>
      <p:pic>
        <p:nvPicPr>
          <p:cNvPr id="22" name="Picture 21">
            <a:extLst>
              <a:ext uri="{FF2B5EF4-FFF2-40B4-BE49-F238E27FC236}">
                <a16:creationId xmlns:a16="http://schemas.microsoft.com/office/drawing/2014/main" id="{614D2A9C-2888-22C1-407D-7909650B210A}"/>
              </a:ext>
            </a:extLst>
          </p:cNvPr>
          <p:cNvPicPr>
            <a:picLocks noChangeAspect="1"/>
          </p:cNvPicPr>
          <p:nvPr/>
        </p:nvPicPr>
        <p:blipFill>
          <a:blip r:embed="rId3"/>
          <a:stretch>
            <a:fillRect/>
          </a:stretch>
        </p:blipFill>
        <p:spPr>
          <a:xfrm>
            <a:off x="16166176" y="5852491"/>
            <a:ext cx="5216235" cy="3634455"/>
          </a:xfrm>
          <a:prstGeom prst="rect">
            <a:avLst/>
          </a:prstGeom>
        </p:spPr>
      </p:pic>
      <p:pic>
        <p:nvPicPr>
          <p:cNvPr id="2" name="Picture 1">
            <a:extLst>
              <a:ext uri="{FF2B5EF4-FFF2-40B4-BE49-F238E27FC236}">
                <a16:creationId xmlns:a16="http://schemas.microsoft.com/office/drawing/2014/main" id="{A8ADEF6E-E212-6600-FC74-41F87B79AC03}"/>
              </a:ext>
            </a:extLst>
          </p:cNvPr>
          <p:cNvPicPr>
            <a:picLocks noChangeAspect="1"/>
          </p:cNvPicPr>
          <p:nvPr/>
        </p:nvPicPr>
        <p:blipFill>
          <a:blip r:embed="rId4"/>
          <a:stretch>
            <a:fillRect/>
          </a:stretch>
        </p:blipFill>
        <p:spPr>
          <a:xfrm>
            <a:off x="21312641" y="19781510"/>
            <a:ext cx="5216235" cy="3787468"/>
          </a:xfrm>
          <a:prstGeom prst="rect">
            <a:avLst/>
          </a:prstGeom>
        </p:spPr>
      </p:pic>
      <p:pic>
        <p:nvPicPr>
          <p:cNvPr id="3" name="Picture 2">
            <a:extLst>
              <a:ext uri="{FF2B5EF4-FFF2-40B4-BE49-F238E27FC236}">
                <a16:creationId xmlns:a16="http://schemas.microsoft.com/office/drawing/2014/main" id="{2C94E24C-7332-AADC-C6EB-6031FDAD3AEC}"/>
              </a:ext>
            </a:extLst>
          </p:cNvPr>
          <p:cNvPicPr>
            <a:picLocks noChangeAspect="1"/>
          </p:cNvPicPr>
          <p:nvPr/>
        </p:nvPicPr>
        <p:blipFill>
          <a:blip r:embed="rId5"/>
          <a:stretch>
            <a:fillRect/>
          </a:stretch>
        </p:blipFill>
        <p:spPr>
          <a:xfrm>
            <a:off x="15610612" y="19781510"/>
            <a:ext cx="5216235" cy="3856054"/>
          </a:xfrm>
          <a:prstGeom prst="rect">
            <a:avLst/>
          </a:prstGeom>
        </p:spPr>
      </p:pic>
      <p:pic>
        <p:nvPicPr>
          <p:cNvPr id="7" name="Picture 6">
            <a:extLst>
              <a:ext uri="{FF2B5EF4-FFF2-40B4-BE49-F238E27FC236}">
                <a16:creationId xmlns:a16="http://schemas.microsoft.com/office/drawing/2014/main" id="{B44CF3C5-FA8C-0F9E-DA66-1178A0BE2203}"/>
              </a:ext>
            </a:extLst>
          </p:cNvPr>
          <p:cNvPicPr>
            <a:picLocks noChangeAspect="1"/>
          </p:cNvPicPr>
          <p:nvPr/>
        </p:nvPicPr>
        <p:blipFill>
          <a:blip r:embed="rId6"/>
          <a:stretch>
            <a:fillRect/>
          </a:stretch>
        </p:blipFill>
        <p:spPr>
          <a:xfrm>
            <a:off x="15367715" y="28231536"/>
            <a:ext cx="10918264" cy="3634455"/>
          </a:xfrm>
          <a:prstGeom prst="rect">
            <a:avLst/>
          </a:prstGeom>
        </p:spPr>
      </p:pic>
      <p:sp>
        <p:nvSpPr>
          <p:cNvPr id="9" name="TextBox 8">
            <a:extLst>
              <a:ext uri="{FF2B5EF4-FFF2-40B4-BE49-F238E27FC236}">
                <a16:creationId xmlns:a16="http://schemas.microsoft.com/office/drawing/2014/main" id="{E516117A-D4F6-AE31-505A-289B357469B4}"/>
              </a:ext>
            </a:extLst>
          </p:cNvPr>
          <p:cNvSpPr txBox="1"/>
          <p:nvPr/>
        </p:nvSpPr>
        <p:spPr>
          <a:xfrm>
            <a:off x="30123938" y="2014106"/>
            <a:ext cx="12448651" cy="6001643"/>
          </a:xfrm>
          <a:prstGeom prst="rect">
            <a:avLst/>
          </a:prstGeom>
          <a:noFill/>
        </p:spPr>
        <p:txBody>
          <a:bodyPr wrap="square" rtlCol="0">
            <a:spAutoFit/>
          </a:bodyPr>
          <a:lstStyle/>
          <a:p>
            <a:pPr algn="just"/>
            <a:r>
              <a:rPr lang="en-US" sz="3600" b="1" dirty="0">
                <a:latin typeface="Arial" panose="020B0604020202020204" pitchFamily="34" charset="0"/>
                <a:cs typeface="Arial" panose="020B0604020202020204" pitchFamily="34" charset="0"/>
              </a:rPr>
              <a:t>Dickey-Fuller test</a:t>
            </a:r>
          </a:p>
          <a:p>
            <a:pPr algn="just"/>
            <a:r>
              <a:rPr lang="en-US" sz="3600" dirty="0">
                <a:latin typeface="Arial" panose="020B0604020202020204" pitchFamily="34" charset="0"/>
                <a:cs typeface="Arial" panose="020B0604020202020204" pitchFamily="34" charset="0"/>
              </a:rPr>
              <a:t>The graph shows that the data is stationary due test result is  0.00000058 as reject the null hypothesis. </a:t>
            </a:r>
            <a:r>
              <a:rPr lang="en-US" sz="3600" dirty="0">
                <a:solidFill>
                  <a:srgbClr val="FF0000"/>
                </a:solidFill>
                <a:latin typeface="Arial" panose="020B0604020202020204" pitchFamily="34" charset="0"/>
                <a:cs typeface="Arial" panose="020B0604020202020204" pitchFamily="34" charset="0"/>
              </a:rPr>
              <a:t>But the data is seasonal because October to March electricity usage increased and constantly decreased from April, In despite June to August it reach low level. </a:t>
            </a:r>
            <a:r>
              <a:rPr lang="en-US" sz="3600" dirty="0">
                <a:latin typeface="Arial" panose="020B0604020202020204" pitchFamily="34" charset="0"/>
                <a:cs typeface="Arial" panose="020B0604020202020204" pitchFamily="34" charset="0"/>
              </a:rPr>
              <a:t>So, SARIMA model has been used further because the data is stationary but has seasonality. </a:t>
            </a:r>
          </a:p>
          <a:p>
            <a:pPr algn="just"/>
            <a:endParaRPr lang="en-US" sz="4800" dirty="0">
              <a:latin typeface="Arial" panose="020B0604020202020204" pitchFamily="34" charset="0"/>
              <a:cs typeface="Arial" panose="020B0604020202020204" pitchFamily="34" charset="0"/>
            </a:endParaRPr>
          </a:p>
          <a:p>
            <a:pPr algn="just"/>
            <a:endParaRPr lang="en-US" sz="48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854A45D1-5840-50C3-BC01-1A6675817271}"/>
              </a:ext>
            </a:extLst>
          </p:cNvPr>
          <p:cNvSpPr txBox="1"/>
          <p:nvPr/>
        </p:nvSpPr>
        <p:spPr>
          <a:xfrm>
            <a:off x="1318610" y="997528"/>
            <a:ext cx="12843162" cy="707886"/>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rPr>
              <a:t>INTRODUCTION</a:t>
            </a:r>
            <a:endParaRPr lang="en-US" dirty="0"/>
          </a:p>
        </p:txBody>
      </p:sp>
    </p:spTree>
    <p:extLst>
      <p:ext uri="{BB962C8B-B14F-4D97-AF65-F5344CB8AC3E}">
        <p14:creationId xmlns:p14="http://schemas.microsoft.com/office/powerpoint/2010/main" val="1098259038"/>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875</TotalTime>
  <Words>601</Words>
  <Application>Microsoft Office PowerPoint</Application>
  <PresentationFormat>Custom</PresentationFormat>
  <Paragraphs>43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enkhbayasgalan batbayar</dc:creator>
  <cp:lastModifiedBy>enkhbayasgalan batbayar</cp:lastModifiedBy>
  <cp:revision>2</cp:revision>
  <dcterms:created xsi:type="dcterms:W3CDTF">2026-10-10T11:54:27Z</dcterms:created>
  <dcterms:modified xsi:type="dcterms:W3CDTF">2026-10-12T16:43:20Z</dcterms:modified>
</cp:coreProperties>
</file>