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3"/>
  </p:notes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79" autoAdjust="0"/>
    <p:restoredTop sz="94660"/>
  </p:normalViewPr>
  <p:slideViewPr>
    <p:cSldViewPr snapToGrid="0">
      <p:cViewPr varScale="1">
        <p:scale>
          <a:sx n="19" d="100"/>
          <a:sy n="19" d="100"/>
        </p:scale>
        <p:origin x="40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2A926C-90D6-4289-8F51-DD29ED19146F}" type="datetimeFigureOut">
              <a:rPr lang="en-US" smtClean="0"/>
              <a:t>10/21/2026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147058-A90E-4E07-B0EE-B5AA252222B8}" type="slidenum">
              <a:rPr lang="en-US" smtClean="0"/>
              <a:t>‹#›</a:t>
            </a:fld>
            <a:endParaRPr lang="en-US"/>
          </a:p>
        </p:txBody>
      </p:sp>
    </p:spTree>
    <p:extLst>
      <p:ext uri="{BB962C8B-B14F-4D97-AF65-F5344CB8AC3E}">
        <p14:creationId xmlns:p14="http://schemas.microsoft.com/office/powerpoint/2010/main" val="4569602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E147058-A90E-4E07-B0EE-B5AA252222B8}" type="slidenum">
              <a:rPr lang="en-US" smtClean="0"/>
              <a:t>1</a:t>
            </a:fld>
            <a:endParaRPr lang="en-US"/>
          </a:p>
        </p:txBody>
      </p:sp>
    </p:spTree>
    <p:extLst>
      <p:ext uri="{BB962C8B-B14F-4D97-AF65-F5344CB8AC3E}">
        <p14:creationId xmlns:p14="http://schemas.microsoft.com/office/powerpoint/2010/main" val="7327709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ACA1C7C-A57E-4601-A266-C84919E8106A}"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42558946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ACA1C7C-A57E-4601-A266-C84919E8106A}"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28893207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solidFill>
              </a:defRPr>
            </a:lvl1pPr>
            <a:lvl2pPr marL="2194560" indent="0">
              <a:buNone/>
              <a:defRPr sz="9600">
                <a:solidFill>
                  <a:schemeClr val="tx1">
                    <a:tint val="75000"/>
                  </a:schemeClr>
                </a:solidFill>
              </a:defRPr>
            </a:lvl2pPr>
            <a:lvl3pPr marL="4389120" indent="0">
              <a:buNone/>
              <a:defRPr sz="8640">
                <a:solidFill>
                  <a:schemeClr val="tx1">
                    <a:tint val="75000"/>
                  </a:schemeClr>
                </a:solidFill>
              </a:defRPr>
            </a:lvl3pPr>
            <a:lvl4pPr marL="6583680" indent="0">
              <a:buNone/>
              <a:defRPr sz="7680">
                <a:solidFill>
                  <a:schemeClr val="tx1">
                    <a:tint val="75000"/>
                  </a:schemeClr>
                </a:solidFill>
              </a:defRPr>
            </a:lvl4pPr>
            <a:lvl5pPr marL="8778240" indent="0">
              <a:buNone/>
              <a:defRPr sz="7680">
                <a:solidFill>
                  <a:schemeClr val="tx1">
                    <a:tint val="75000"/>
                  </a:schemeClr>
                </a:solidFill>
              </a:defRPr>
            </a:lvl5pPr>
            <a:lvl6pPr marL="10972800" indent="0">
              <a:buNone/>
              <a:defRPr sz="7680">
                <a:solidFill>
                  <a:schemeClr val="tx1">
                    <a:tint val="75000"/>
                  </a:schemeClr>
                </a:solidFill>
              </a:defRPr>
            </a:lvl6pPr>
            <a:lvl7pPr marL="13167360" indent="0">
              <a:buNone/>
              <a:defRPr sz="7680">
                <a:solidFill>
                  <a:schemeClr val="tx1">
                    <a:tint val="75000"/>
                  </a:schemeClr>
                </a:solidFill>
              </a:defRPr>
            </a:lvl7pPr>
            <a:lvl8pPr marL="15361920" indent="0">
              <a:buNone/>
              <a:defRPr sz="7680">
                <a:solidFill>
                  <a:schemeClr val="tx1">
                    <a:tint val="75000"/>
                  </a:schemeClr>
                </a:solidFill>
              </a:defRPr>
            </a:lvl8pPr>
            <a:lvl9pPr marL="17556480" indent="0">
              <a:buNone/>
              <a:defRPr sz="768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ACA1C7C-A57E-4601-A266-C84919E8106A}"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3962839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ACA1C7C-A57E-4601-A266-C84919E8106A}"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1749218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ACA1C7C-A57E-4601-A266-C84919E8106A}" type="datetimeFigureOut">
              <a:rPr lang="en-US" smtClean="0"/>
              <a:t>10/21/2026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17221654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ACA1C7C-A57E-4601-A266-C84919E8106A}" type="datetimeFigureOut">
              <a:rPr lang="en-US" smtClean="0"/>
              <a:t>10/21/2026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986658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CA1C7C-A57E-4601-A266-C84919E8106A}" type="datetimeFigureOut">
              <a:rPr lang="en-US" smtClean="0"/>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39912703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BACA1C7C-A57E-4601-A266-C84919E8106A}"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301393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BACA1C7C-A57E-4601-A266-C84919E8106A}"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32247732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ACA1C7C-A57E-4601-A266-C84919E8106A}"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12114326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ACA1C7C-A57E-4601-A266-C84919E8106A}"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8488326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75000"/>
                  </a:schemeClr>
                </a:solidFill>
              </a:defRPr>
            </a:lvl1pPr>
          </a:lstStyle>
          <a:p>
            <a:fld id="{BACA1C7C-A57E-4601-A266-C84919E8106A}" type="datetimeFigureOut">
              <a:rPr lang="en-US" smtClean="0"/>
              <a:t>10/21/2026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75000"/>
                  </a:schemeClr>
                </a:solidFill>
              </a:defRPr>
            </a:lvl1pPr>
          </a:lstStyle>
          <a:p>
            <a:fld id="{5152393F-D8CA-435B-93C0-1CBDA6DAA8DF}" type="slidenum">
              <a:rPr lang="en-US" smtClean="0"/>
              <a:t>‹#›</a:t>
            </a:fld>
            <a:endParaRPr lang="en-US"/>
          </a:p>
        </p:txBody>
      </p:sp>
    </p:spTree>
    <p:extLst>
      <p:ext uri="{BB962C8B-B14F-4D97-AF65-F5344CB8AC3E}">
        <p14:creationId xmlns:p14="http://schemas.microsoft.com/office/powerpoint/2010/main" val="403715747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ED8F9F5-399E-E2C8-E3A0-708A83B18A8E}"/>
              </a:ext>
            </a:extLst>
          </p:cNvPr>
          <p:cNvSpPr txBox="1"/>
          <p:nvPr/>
        </p:nvSpPr>
        <p:spPr>
          <a:xfrm>
            <a:off x="992476" y="2681382"/>
            <a:ext cx="41906248" cy="2400657"/>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pPr algn="just"/>
            <a:r>
              <a:rPr lang="en-US" sz="3200" b="1" dirty="0">
                <a:solidFill>
                  <a:schemeClr val="tx1"/>
                </a:solidFill>
                <a:latin typeface="Arial" panose="020B0604020202020204" pitchFamily="34" charset="0"/>
                <a:cs typeface="Arial" panose="020B0604020202020204" pitchFamily="34" charset="0"/>
              </a:rPr>
              <a:t>INTRODUCTION</a:t>
            </a:r>
            <a:endParaRPr lang="en-US" sz="3200" dirty="0">
              <a:solidFill>
                <a:schemeClr val="tx1"/>
              </a:solidFill>
              <a:latin typeface="Arial" panose="020B0604020202020204" pitchFamily="34" charset="0"/>
              <a:cs typeface="Arial" panose="020B0604020202020204" pitchFamily="34" charset="0"/>
            </a:endParaRPr>
          </a:p>
          <a:p>
            <a:pPr algn="just"/>
            <a:r>
              <a:rPr lang="en-US" sz="3200" dirty="0">
                <a:solidFill>
                  <a:schemeClr val="tx1"/>
                </a:solidFill>
                <a:latin typeface="Arial" panose="020B0604020202020204" pitchFamily="34" charset="0"/>
                <a:cs typeface="Arial" panose="020B0604020202020204" pitchFamily="34" charset="0"/>
              </a:rPr>
              <a:t>Data is 1.04 million rows, 9 columns, between Dec.2006 to Nov.2027. Measurements of electric power consumption in just one household with a one-minute sampling rate over a period. It shows different electrical quantities and some sub-metering values. This data represents household electricity consumption by one household usage so it will be include housing data category. </a:t>
            </a:r>
          </a:p>
          <a:p>
            <a:pPr algn="just"/>
            <a:endParaRPr lang="en-US" sz="3600" dirty="0">
              <a:solidFill>
                <a:srgbClr val="FF0000"/>
              </a:solidFill>
              <a:latin typeface="Arial" panose="020B0604020202020204" pitchFamily="34" charset="0"/>
              <a:cs typeface="Arial" panose="020B0604020202020204" pitchFamily="34" charset="0"/>
            </a:endParaRPr>
          </a:p>
          <a:p>
            <a:endParaRPr lang="en-US" dirty="0">
              <a:solidFill>
                <a:schemeClr val="bg1"/>
              </a:solidFill>
            </a:endParaRPr>
          </a:p>
        </p:txBody>
      </p:sp>
      <p:sp>
        <p:nvSpPr>
          <p:cNvPr id="13" name="TextBox 12">
            <a:extLst>
              <a:ext uri="{FF2B5EF4-FFF2-40B4-BE49-F238E27FC236}">
                <a16:creationId xmlns:a16="http://schemas.microsoft.com/office/drawing/2014/main" id="{A655674C-B556-1F71-8536-CF9B72101D5F}"/>
              </a:ext>
            </a:extLst>
          </p:cNvPr>
          <p:cNvSpPr txBox="1"/>
          <p:nvPr/>
        </p:nvSpPr>
        <p:spPr>
          <a:xfrm>
            <a:off x="5092815" y="5194050"/>
            <a:ext cx="12843162" cy="984885"/>
          </a:xfrm>
          <a:prstGeom prst="rect">
            <a:avLst/>
          </a:prstGeom>
          <a:noFill/>
        </p:spPr>
        <p:txBody>
          <a:bodyPr wrap="square" rtlCol="0">
            <a:spAutoFit/>
          </a:bodyPr>
          <a:lstStyle/>
          <a:p>
            <a:r>
              <a:rPr lang="en-US" sz="4000" b="1" dirty="0">
                <a:latin typeface="Arial" panose="020B0604020202020204" pitchFamily="34" charset="0"/>
                <a:cs typeface="Arial" panose="020B0604020202020204" pitchFamily="34" charset="0"/>
              </a:rPr>
              <a:t>CLUSTERING MODELS RESULTS</a:t>
            </a:r>
          </a:p>
          <a:p>
            <a:endParaRPr lang="en-US" dirty="0"/>
          </a:p>
        </p:txBody>
      </p:sp>
      <p:sp>
        <p:nvSpPr>
          <p:cNvPr id="15" name="TextBox 14">
            <a:extLst>
              <a:ext uri="{FF2B5EF4-FFF2-40B4-BE49-F238E27FC236}">
                <a16:creationId xmlns:a16="http://schemas.microsoft.com/office/drawing/2014/main" id="{D760D43C-87C9-C848-E3BD-1FB57D93AE65}"/>
              </a:ext>
            </a:extLst>
          </p:cNvPr>
          <p:cNvSpPr txBox="1"/>
          <p:nvPr/>
        </p:nvSpPr>
        <p:spPr>
          <a:xfrm>
            <a:off x="27297261" y="5117514"/>
            <a:ext cx="12843162" cy="707886"/>
          </a:xfrm>
          <a:prstGeom prst="rect">
            <a:avLst/>
          </a:prstGeom>
          <a:noFill/>
        </p:spPr>
        <p:txBody>
          <a:bodyPr wrap="square" rtlCol="0">
            <a:spAutoFit/>
          </a:bodyPr>
          <a:lstStyle/>
          <a:p>
            <a:r>
              <a:rPr lang="en-US" sz="4000" b="1" dirty="0">
                <a:latin typeface="Arial" panose="020B0604020202020204" pitchFamily="34" charset="0"/>
                <a:cs typeface="Arial" panose="020B0604020202020204" pitchFamily="34" charset="0"/>
              </a:rPr>
              <a:t>TEST AND SARIMA MODEL RESULTS</a:t>
            </a:r>
          </a:p>
        </p:txBody>
      </p:sp>
      <p:sp>
        <p:nvSpPr>
          <p:cNvPr id="16" name="TextBox 15">
            <a:extLst>
              <a:ext uri="{FF2B5EF4-FFF2-40B4-BE49-F238E27FC236}">
                <a16:creationId xmlns:a16="http://schemas.microsoft.com/office/drawing/2014/main" id="{35A6CD5A-BA0C-269D-1374-0EBB621D2256}"/>
              </a:ext>
            </a:extLst>
          </p:cNvPr>
          <p:cNvSpPr txBox="1"/>
          <p:nvPr/>
        </p:nvSpPr>
        <p:spPr>
          <a:xfrm>
            <a:off x="992477" y="5984188"/>
            <a:ext cx="20528280" cy="20199096"/>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pPr algn="just"/>
            <a:r>
              <a:rPr lang="en-US" sz="3200" b="1" dirty="0">
                <a:solidFill>
                  <a:schemeClr val="tx1"/>
                </a:solidFill>
                <a:latin typeface="Arial" panose="020B0604020202020204" pitchFamily="34" charset="0"/>
                <a:cs typeface="Arial" panose="020B0604020202020204" pitchFamily="34" charset="0"/>
              </a:rPr>
              <a:t>K-Means</a:t>
            </a: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solidFill>
                <a:schemeClr val="tx1"/>
              </a:solidFill>
              <a:latin typeface="Arial" panose="020B0604020202020204" pitchFamily="34" charset="0"/>
              <a:cs typeface="Arial" panose="020B0604020202020204" pitchFamily="34" charset="0"/>
            </a:endParaRPr>
          </a:p>
          <a:p>
            <a:pPr algn="just"/>
            <a:r>
              <a:rPr lang="en-US" sz="3200" b="1" dirty="0">
                <a:solidFill>
                  <a:schemeClr val="tx1"/>
                </a:solidFill>
                <a:latin typeface="Arial" panose="020B0604020202020204" pitchFamily="34" charset="0"/>
                <a:cs typeface="Arial" panose="020B0604020202020204" pitchFamily="34" charset="0"/>
              </a:rPr>
              <a:t>K-</a:t>
            </a:r>
            <a:r>
              <a:rPr lang="en-US" sz="3200" b="1" dirty="0" err="1">
                <a:solidFill>
                  <a:schemeClr val="tx1"/>
                </a:solidFill>
                <a:latin typeface="Arial" panose="020B0604020202020204" pitchFamily="34" charset="0"/>
                <a:cs typeface="Arial" panose="020B0604020202020204" pitchFamily="34" charset="0"/>
              </a:rPr>
              <a:t>Meidod</a:t>
            </a:r>
            <a:endParaRPr lang="en-US" sz="3200" b="1" dirty="0">
              <a:solidFill>
                <a:schemeClr val="tx1"/>
              </a:solidFill>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solidFill>
                <a:schemeClr val="tx1"/>
              </a:solidFill>
              <a:latin typeface="Arial" panose="020B0604020202020204" pitchFamily="34" charset="0"/>
              <a:cs typeface="Arial" panose="020B0604020202020204" pitchFamily="34" charset="0"/>
            </a:endParaRPr>
          </a:p>
          <a:p>
            <a:pPr algn="just"/>
            <a:r>
              <a:rPr lang="en-US" sz="3200" b="1" dirty="0">
                <a:solidFill>
                  <a:schemeClr val="tx1"/>
                </a:solidFill>
                <a:latin typeface="Arial" panose="020B0604020202020204" pitchFamily="34" charset="0"/>
                <a:cs typeface="Arial" panose="020B0604020202020204" pitchFamily="34" charset="0"/>
              </a:rPr>
              <a:t>DBSCAN </a:t>
            </a: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solidFill>
                <a:schemeClr val="bg1"/>
              </a:solidFill>
              <a:latin typeface="Arial" panose="020B0604020202020204" pitchFamily="34" charset="0"/>
              <a:cs typeface="Arial" panose="020B0604020202020204" pitchFamily="34" charset="0"/>
            </a:endParaRPr>
          </a:p>
          <a:p>
            <a:pPr algn="just"/>
            <a:r>
              <a:rPr lang="en-US" sz="3200" b="1" dirty="0">
                <a:solidFill>
                  <a:schemeClr val="tx1"/>
                </a:solidFill>
                <a:latin typeface="Arial" panose="020B0604020202020204" pitchFamily="34" charset="0"/>
                <a:cs typeface="Arial" panose="020B0604020202020204" pitchFamily="34" charset="0"/>
              </a:rPr>
              <a:t>Fuzzy C-Means</a:t>
            </a: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p:txBody>
      </p:sp>
      <p:pic>
        <p:nvPicPr>
          <p:cNvPr id="22" name="Picture 21">
            <a:extLst>
              <a:ext uri="{FF2B5EF4-FFF2-40B4-BE49-F238E27FC236}">
                <a16:creationId xmlns:a16="http://schemas.microsoft.com/office/drawing/2014/main" id="{614D2A9C-2888-22C1-407D-7909650B210A}"/>
              </a:ext>
            </a:extLst>
          </p:cNvPr>
          <p:cNvPicPr>
            <a:picLocks noChangeAspect="1"/>
          </p:cNvPicPr>
          <p:nvPr/>
        </p:nvPicPr>
        <p:blipFill>
          <a:blip r:embed="rId3"/>
          <a:stretch>
            <a:fillRect/>
          </a:stretch>
        </p:blipFill>
        <p:spPr>
          <a:xfrm>
            <a:off x="992476" y="6596690"/>
            <a:ext cx="5481349" cy="3899884"/>
          </a:xfrm>
          <a:prstGeom prst="rect">
            <a:avLst/>
          </a:prstGeom>
        </p:spPr>
      </p:pic>
      <p:pic>
        <p:nvPicPr>
          <p:cNvPr id="2" name="Picture 1">
            <a:extLst>
              <a:ext uri="{FF2B5EF4-FFF2-40B4-BE49-F238E27FC236}">
                <a16:creationId xmlns:a16="http://schemas.microsoft.com/office/drawing/2014/main" id="{A8ADEF6E-E212-6600-FC74-41F87B79AC03}"/>
              </a:ext>
            </a:extLst>
          </p:cNvPr>
          <p:cNvPicPr>
            <a:picLocks noChangeAspect="1"/>
          </p:cNvPicPr>
          <p:nvPr/>
        </p:nvPicPr>
        <p:blipFill>
          <a:blip r:embed="rId4"/>
          <a:stretch>
            <a:fillRect/>
          </a:stretch>
        </p:blipFill>
        <p:spPr>
          <a:xfrm>
            <a:off x="6495788" y="16438078"/>
            <a:ext cx="5216235" cy="3899885"/>
          </a:xfrm>
          <a:prstGeom prst="rect">
            <a:avLst/>
          </a:prstGeom>
        </p:spPr>
      </p:pic>
      <p:pic>
        <p:nvPicPr>
          <p:cNvPr id="3" name="Picture 2">
            <a:extLst>
              <a:ext uri="{FF2B5EF4-FFF2-40B4-BE49-F238E27FC236}">
                <a16:creationId xmlns:a16="http://schemas.microsoft.com/office/drawing/2014/main" id="{2C94E24C-7332-AADC-C6EB-6031FDAD3AEC}"/>
              </a:ext>
            </a:extLst>
          </p:cNvPr>
          <p:cNvPicPr>
            <a:picLocks noChangeAspect="1"/>
          </p:cNvPicPr>
          <p:nvPr/>
        </p:nvPicPr>
        <p:blipFill>
          <a:blip r:embed="rId5"/>
          <a:stretch>
            <a:fillRect/>
          </a:stretch>
        </p:blipFill>
        <p:spPr>
          <a:xfrm>
            <a:off x="1019503" y="16345799"/>
            <a:ext cx="5216235" cy="3930487"/>
          </a:xfrm>
          <a:prstGeom prst="rect">
            <a:avLst/>
          </a:prstGeom>
        </p:spPr>
      </p:pic>
      <p:sp>
        <p:nvSpPr>
          <p:cNvPr id="9" name="TextBox 8">
            <a:extLst>
              <a:ext uri="{FF2B5EF4-FFF2-40B4-BE49-F238E27FC236}">
                <a16:creationId xmlns:a16="http://schemas.microsoft.com/office/drawing/2014/main" id="{E516117A-D4F6-AE31-505A-289B357469B4}"/>
              </a:ext>
            </a:extLst>
          </p:cNvPr>
          <p:cNvSpPr txBox="1"/>
          <p:nvPr/>
        </p:nvSpPr>
        <p:spPr>
          <a:xfrm>
            <a:off x="22370444" y="5984188"/>
            <a:ext cx="20528280" cy="20199096"/>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pPr algn="just"/>
            <a:r>
              <a:rPr lang="en-US" sz="3200" b="1" dirty="0">
                <a:solidFill>
                  <a:schemeClr val="tx1"/>
                </a:solidFill>
                <a:latin typeface="Arial" panose="020B0604020202020204" pitchFamily="34" charset="0"/>
                <a:cs typeface="Arial" panose="020B0604020202020204" pitchFamily="34" charset="0"/>
              </a:rPr>
              <a:t>Dickey-Fuller test</a:t>
            </a:r>
          </a:p>
          <a:p>
            <a:pPr algn="just"/>
            <a:r>
              <a:rPr lang="en-US" sz="3200" dirty="0">
                <a:latin typeface="Arial" panose="020B0604020202020204" pitchFamily="34" charset="0"/>
                <a:cs typeface="Arial" panose="020B0604020202020204" pitchFamily="34" charset="0"/>
              </a:rPr>
              <a:t>					</a:t>
            </a: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r>
              <a:rPr lang="en-US" sz="3200" b="1" dirty="0">
                <a:solidFill>
                  <a:schemeClr val="tx1"/>
                </a:solidFill>
                <a:latin typeface="Arial" panose="020B0604020202020204" pitchFamily="34" charset="0"/>
                <a:cs typeface="Arial" panose="020B0604020202020204" pitchFamily="34" charset="0"/>
              </a:rPr>
              <a:t>ARIMA and SARIMA</a:t>
            </a: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r>
              <a:rPr lang="en-US" sz="3200" b="1" dirty="0">
                <a:solidFill>
                  <a:schemeClr val="tx1"/>
                </a:solidFill>
                <a:latin typeface="Arial" panose="020B0604020202020204" pitchFamily="34" charset="0"/>
                <a:cs typeface="Arial" panose="020B0604020202020204" pitchFamily="34" charset="0"/>
              </a:rPr>
              <a:t>Holt-Winters model</a:t>
            </a: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600" dirty="0">
              <a:solidFill>
                <a:srgbClr val="FF0000"/>
              </a:solidFill>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B3C38F93-2715-A61F-208B-534B4E5418C0}"/>
              </a:ext>
            </a:extLst>
          </p:cNvPr>
          <p:cNvPicPr>
            <a:picLocks noChangeAspect="1"/>
          </p:cNvPicPr>
          <p:nvPr/>
        </p:nvPicPr>
        <p:blipFill>
          <a:blip r:embed="rId6"/>
          <a:stretch>
            <a:fillRect/>
          </a:stretch>
        </p:blipFill>
        <p:spPr>
          <a:xfrm>
            <a:off x="1046353" y="11438853"/>
            <a:ext cx="10616010" cy="3899884"/>
          </a:xfrm>
          <a:prstGeom prst="rect">
            <a:avLst/>
          </a:prstGeom>
        </p:spPr>
      </p:pic>
      <p:sp>
        <p:nvSpPr>
          <p:cNvPr id="10" name="TextBox 9">
            <a:extLst>
              <a:ext uri="{FF2B5EF4-FFF2-40B4-BE49-F238E27FC236}">
                <a16:creationId xmlns:a16="http://schemas.microsoft.com/office/drawing/2014/main" id="{444E9714-CA08-DAE2-DBC9-A6E2F29315A9}"/>
              </a:ext>
            </a:extLst>
          </p:cNvPr>
          <p:cNvSpPr txBox="1"/>
          <p:nvPr/>
        </p:nvSpPr>
        <p:spPr>
          <a:xfrm>
            <a:off x="992474" y="742390"/>
            <a:ext cx="41906249" cy="1938992"/>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4400" b="1" dirty="0">
                <a:solidFill>
                  <a:schemeClr val="tx1"/>
                </a:solidFill>
                <a:latin typeface="Arial" panose="020B0604020202020204" pitchFamily="34" charset="0"/>
                <a:cs typeface="Arial" panose="020B0604020202020204" pitchFamily="34" charset="0"/>
              </a:rPr>
              <a:t>INDIVIDUAL HOUSEHOLD ELECTRICITY CONSUMPTION DATA FOR CLUSTERING AND TIME SERIES MODEL</a:t>
            </a:r>
          </a:p>
          <a:p>
            <a:pPr algn="ctr"/>
            <a:r>
              <a:rPr lang="en-US" sz="3600" dirty="0">
                <a:solidFill>
                  <a:schemeClr val="tx1"/>
                </a:solidFill>
                <a:latin typeface="Arial" panose="020B0604020202020204" pitchFamily="34" charset="0"/>
                <a:cs typeface="Arial" panose="020B0604020202020204" pitchFamily="34" charset="0"/>
              </a:rPr>
              <a:t>						</a:t>
            </a:r>
          </a:p>
          <a:p>
            <a:pPr algn="ctr"/>
            <a:r>
              <a:rPr lang="en-US" sz="4000" dirty="0">
                <a:solidFill>
                  <a:schemeClr val="tx1"/>
                </a:solidFill>
                <a:latin typeface="Arial" panose="020B0604020202020204" pitchFamily="34" charset="0"/>
                <a:cs typeface="Arial" panose="020B0604020202020204" pitchFamily="34" charset="0"/>
              </a:rPr>
              <a:t>Enkhbayasgalan Batbayar, CCT College, 10/16/2026</a:t>
            </a:r>
            <a:endParaRPr lang="en-US" sz="3200" dirty="0">
              <a:solidFill>
                <a:schemeClr val="tx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DD948F85-DE0B-7B6C-D1EF-22E9E2257C89}"/>
              </a:ext>
            </a:extLst>
          </p:cNvPr>
          <p:cNvSpPr txBox="1"/>
          <p:nvPr/>
        </p:nvSpPr>
        <p:spPr>
          <a:xfrm>
            <a:off x="861536" y="27085433"/>
            <a:ext cx="41682600" cy="2554545"/>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sz="3200" b="1" i="1" dirty="0">
                <a:solidFill>
                  <a:schemeClr val="tx1"/>
                </a:solidFill>
                <a:latin typeface="Arial" panose="020B0604020202020204" pitchFamily="34" charset="0"/>
                <a:cs typeface="Arial" panose="020B0604020202020204" pitchFamily="34" charset="0"/>
              </a:rPr>
              <a:t>RESULT</a:t>
            </a:r>
          </a:p>
          <a:p>
            <a:r>
              <a:rPr lang="en-US" sz="3200" b="1" i="1" dirty="0">
                <a:solidFill>
                  <a:schemeClr val="tx1"/>
                </a:solidFill>
                <a:latin typeface="Arial" panose="020B0604020202020204" pitchFamily="34" charset="0"/>
                <a:cs typeface="Arial" panose="020B0604020202020204" pitchFamily="34" charset="0"/>
              </a:rPr>
              <a:t>Cluster models have been identified showing that household power usage is usually low, but in the mornings and evenings it is higher than at normal times. Optimal cluster is 4 both Davis-Boulding and </a:t>
            </a:r>
            <a:r>
              <a:rPr lang="en-US" sz="3200" b="1" i="1" dirty="0" err="1">
                <a:solidFill>
                  <a:schemeClr val="tx1"/>
                </a:solidFill>
                <a:latin typeface="Arial" panose="020B0604020202020204" pitchFamily="34" charset="0"/>
                <a:cs typeface="Arial" panose="020B0604020202020204" pitchFamily="34" charset="0"/>
              </a:rPr>
              <a:t>Silhoutte</a:t>
            </a:r>
            <a:r>
              <a:rPr lang="en-US" sz="3200" b="1" i="1" dirty="0">
                <a:solidFill>
                  <a:schemeClr val="tx1"/>
                </a:solidFill>
                <a:latin typeface="Arial" panose="020B0604020202020204" pitchFamily="34" charset="0"/>
                <a:cs typeface="Arial" panose="020B0604020202020204" pitchFamily="34" charset="0"/>
              </a:rPr>
              <a:t> on the DBSCAN and Fuzzy C-Means. For K-means, the Davis-Bouldin index is 4, but the Silhouette score is 2.</a:t>
            </a:r>
          </a:p>
          <a:p>
            <a:r>
              <a:rPr lang="en-US" sz="3200" b="1" i="1" dirty="0">
                <a:solidFill>
                  <a:schemeClr val="tx1"/>
                </a:solidFill>
                <a:latin typeface="Arial" panose="020B0604020202020204" pitchFamily="34" charset="0"/>
                <a:cs typeface="Arial" panose="020B0604020202020204" pitchFamily="34" charset="0"/>
              </a:rPr>
              <a:t>I used the SARIMA model because the data is stationary and has seasonality; it explained 0.97 percent of the data. Household past 2 hours usage depict next one hour usage and during night power usage unexpectedly peaks may be electronic devices require more power or use heaters during that time. Next 120, household usage will drop.        </a:t>
            </a:r>
          </a:p>
        </p:txBody>
      </p:sp>
      <p:sp>
        <p:nvSpPr>
          <p:cNvPr id="24" name="TextBox 23">
            <a:extLst>
              <a:ext uri="{FF2B5EF4-FFF2-40B4-BE49-F238E27FC236}">
                <a16:creationId xmlns:a16="http://schemas.microsoft.com/office/drawing/2014/main" id="{8E256DB8-149C-03B1-B002-718E628C99C8}"/>
              </a:ext>
            </a:extLst>
          </p:cNvPr>
          <p:cNvSpPr txBox="1"/>
          <p:nvPr/>
        </p:nvSpPr>
        <p:spPr>
          <a:xfrm>
            <a:off x="889574" y="29907237"/>
            <a:ext cx="41677415" cy="584775"/>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sz="3200" b="1" i="1" dirty="0">
                <a:solidFill>
                  <a:schemeClr val="tx1"/>
                </a:solidFill>
                <a:latin typeface="Arial" panose="020B0604020202020204" pitchFamily="34" charset="0"/>
                <a:cs typeface="Arial" panose="020B0604020202020204" pitchFamily="34" charset="0"/>
              </a:rPr>
              <a:t>REFERENCE</a:t>
            </a:r>
            <a:r>
              <a:rPr lang="en-US" sz="3200" b="1" i="1" dirty="0">
                <a:latin typeface="Arial" panose="020B0604020202020204" pitchFamily="34" charset="0"/>
                <a:cs typeface="Arial" panose="020B0604020202020204" pitchFamily="34" charset="0"/>
              </a:rPr>
              <a:t> </a:t>
            </a:r>
          </a:p>
        </p:txBody>
      </p:sp>
      <p:pic>
        <p:nvPicPr>
          <p:cNvPr id="26" name="Picture 25">
            <a:extLst>
              <a:ext uri="{FF2B5EF4-FFF2-40B4-BE49-F238E27FC236}">
                <a16:creationId xmlns:a16="http://schemas.microsoft.com/office/drawing/2014/main" id="{70059032-9A0F-D7C5-458C-FC4121B1CDBE}"/>
              </a:ext>
            </a:extLst>
          </p:cNvPr>
          <p:cNvPicPr>
            <a:picLocks noChangeAspect="1"/>
          </p:cNvPicPr>
          <p:nvPr/>
        </p:nvPicPr>
        <p:blipFill>
          <a:blip r:embed="rId7"/>
          <a:stretch>
            <a:fillRect/>
          </a:stretch>
        </p:blipFill>
        <p:spPr>
          <a:xfrm>
            <a:off x="22284626" y="6596429"/>
            <a:ext cx="7324094" cy="3977881"/>
          </a:xfrm>
          <a:prstGeom prst="rect">
            <a:avLst/>
          </a:prstGeom>
        </p:spPr>
      </p:pic>
      <p:sp>
        <p:nvSpPr>
          <p:cNvPr id="34" name="TextBox 33">
            <a:extLst>
              <a:ext uri="{FF2B5EF4-FFF2-40B4-BE49-F238E27FC236}">
                <a16:creationId xmlns:a16="http://schemas.microsoft.com/office/drawing/2014/main" id="{975525CD-935B-818C-F2F7-7814377EE05B}"/>
              </a:ext>
            </a:extLst>
          </p:cNvPr>
          <p:cNvSpPr txBox="1"/>
          <p:nvPr/>
        </p:nvSpPr>
        <p:spPr>
          <a:xfrm>
            <a:off x="29816538" y="6394914"/>
            <a:ext cx="12677493" cy="4893647"/>
          </a:xfrm>
          <a:prstGeom prst="rect">
            <a:avLst/>
          </a:prstGeom>
          <a:noFill/>
        </p:spPr>
        <p:txBody>
          <a:bodyPr wrap="square" rtlCol="0">
            <a:spAutoFit/>
          </a:bodyPr>
          <a:lstStyle/>
          <a:p>
            <a:pPr algn="just"/>
            <a:r>
              <a:rPr lang="en-US" sz="4400" dirty="0">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The graph shows that the data is stationary due to test result is  0.016 as rejected the null hypothesis. But the data is seasonal because nighttime around 10:00 PM to 1AM hour power usage reach low level as use 1 kilowatts, in despite, at 7 AM to 12PM it reaches high level again decreased 12 PM to 2 PM, then evening 5 PM to 8 PM is constantly high as use 3.3 to 3.8 kilowatt. And, autocorrelation and partial autocorrelation prove that the data has seasonality.</a:t>
            </a:r>
          </a:p>
          <a:p>
            <a:pPr algn="just"/>
            <a:r>
              <a:rPr lang="en-US" sz="2800" dirty="0">
                <a:latin typeface="Arial" panose="020B0604020202020204" pitchFamily="34" charset="0"/>
                <a:cs typeface="Arial" panose="020B0604020202020204" pitchFamily="34" charset="0"/>
              </a:rPr>
              <a:t>So, the SARIMA model was used further because the data is stationary but has seasonality. </a:t>
            </a:r>
          </a:p>
          <a:p>
            <a:endParaRPr lang="en-US" sz="4400" dirty="0"/>
          </a:p>
        </p:txBody>
      </p:sp>
      <p:sp>
        <p:nvSpPr>
          <p:cNvPr id="11" name="TextBox 10">
            <a:extLst>
              <a:ext uri="{FF2B5EF4-FFF2-40B4-BE49-F238E27FC236}">
                <a16:creationId xmlns:a16="http://schemas.microsoft.com/office/drawing/2014/main" id="{588B8337-4A27-BEEE-367E-D5164BB4E45D}"/>
              </a:ext>
            </a:extLst>
          </p:cNvPr>
          <p:cNvSpPr txBox="1"/>
          <p:nvPr/>
        </p:nvSpPr>
        <p:spPr>
          <a:xfrm>
            <a:off x="11750933" y="6504576"/>
            <a:ext cx="9067344" cy="3970318"/>
          </a:xfrm>
          <a:prstGeom prst="rect">
            <a:avLst/>
          </a:prstGeom>
          <a:noFill/>
        </p:spPr>
        <p:txBody>
          <a:bodyPr wrap="square" rtlCol="0">
            <a:spAutoFit/>
          </a:bodyPr>
          <a:lstStyle/>
          <a:p>
            <a:pPr algn="just"/>
            <a:r>
              <a:rPr lang="en-US" sz="2800" dirty="0">
                <a:latin typeface="Arial" panose="020B0604020202020204" pitchFamily="34" charset="0"/>
                <a:cs typeface="Arial" panose="020B0604020202020204" pitchFamily="34" charset="0"/>
              </a:rPr>
              <a:t>	Data has been clustered into 4 groups. Household electricity consumption in the morning and at night is higher, usage during those times 2.5 to 3.4. In despite of Afternoon usage reaching to lowest level. The evening, average power consumption is 0.8. </a:t>
            </a:r>
          </a:p>
          <a:p>
            <a:pPr algn="just"/>
            <a:r>
              <a:rPr lang="en-US" sz="2800" dirty="0">
                <a:latin typeface="Arial" panose="020B0604020202020204" pitchFamily="34" charset="0"/>
                <a:cs typeface="Arial" panose="020B0604020202020204" pitchFamily="34" charset="0"/>
              </a:rPr>
              <a:t>	The elbow method and Davies-Bouldin index showed the optimal number is 4. The Silhouette score showed that 2 or 3 clusters will predict better, at 40-42 percent. </a:t>
            </a:r>
          </a:p>
          <a:p>
            <a:endParaRPr lang="en-US" sz="2800" dirty="0"/>
          </a:p>
        </p:txBody>
      </p:sp>
      <p:sp>
        <p:nvSpPr>
          <p:cNvPr id="14" name="TextBox 13">
            <a:extLst>
              <a:ext uri="{FF2B5EF4-FFF2-40B4-BE49-F238E27FC236}">
                <a16:creationId xmlns:a16="http://schemas.microsoft.com/office/drawing/2014/main" id="{A19056F8-1B4B-BC97-194C-B320E5A21880}"/>
              </a:ext>
            </a:extLst>
          </p:cNvPr>
          <p:cNvSpPr txBox="1"/>
          <p:nvPr/>
        </p:nvSpPr>
        <p:spPr>
          <a:xfrm>
            <a:off x="12087765" y="14903266"/>
            <a:ext cx="9207719" cy="523220"/>
          </a:xfrm>
          <a:prstGeom prst="rect">
            <a:avLst/>
          </a:prstGeom>
          <a:noFill/>
        </p:spPr>
        <p:txBody>
          <a:bodyPr wrap="square" rtlCol="0">
            <a:spAutoFit/>
          </a:bodyPr>
          <a:lstStyle/>
          <a:p>
            <a:pPr algn="just"/>
            <a:r>
              <a:rPr lang="en-US" sz="2800" dirty="0">
                <a:latin typeface="Arial" panose="020B0604020202020204" pitchFamily="34" charset="0"/>
                <a:cs typeface="Arial" panose="020B0604020202020204" pitchFamily="34" charset="0"/>
              </a:rPr>
              <a:t>	</a:t>
            </a:r>
            <a:endParaRPr lang="en-US" sz="2800" dirty="0"/>
          </a:p>
        </p:txBody>
      </p:sp>
      <p:sp>
        <p:nvSpPr>
          <p:cNvPr id="18" name="TextBox 17">
            <a:extLst>
              <a:ext uri="{FF2B5EF4-FFF2-40B4-BE49-F238E27FC236}">
                <a16:creationId xmlns:a16="http://schemas.microsoft.com/office/drawing/2014/main" id="{E558EF13-864D-7CF3-64F6-F004A705B3A2}"/>
              </a:ext>
            </a:extLst>
          </p:cNvPr>
          <p:cNvSpPr txBox="1"/>
          <p:nvPr/>
        </p:nvSpPr>
        <p:spPr>
          <a:xfrm>
            <a:off x="11631088" y="11374311"/>
            <a:ext cx="9207719" cy="2677656"/>
          </a:xfrm>
          <a:prstGeom prst="rect">
            <a:avLst/>
          </a:prstGeom>
          <a:noFill/>
        </p:spPr>
        <p:txBody>
          <a:bodyPr wrap="square" rtlCol="0">
            <a:spAutoFit/>
          </a:bodyPr>
          <a:lstStyle/>
          <a:p>
            <a:pPr algn="just"/>
            <a:r>
              <a:rPr lang="en-US" sz="2800" dirty="0">
                <a:solidFill>
                  <a:schemeClr val="bg1"/>
                </a:solidFill>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Household power usage is usually low, between 0.0 and 0.5. Green color shows that the household voltage is higher (0.3- 1.0), but usage is around 0.3 The purple color shows that the household uses high voltage and, during that time, uses high power as well. </a:t>
            </a:r>
          </a:p>
          <a:p>
            <a:endParaRPr lang="en-US" sz="2800" dirty="0"/>
          </a:p>
        </p:txBody>
      </p:sp>
      <p:sp>
        <p:nvSpPr>
          <p:cNvPr id="23" name="TextBox 22">
            <a:extLst>
              <a:ext uri="{FF2B5EF4-FFF2-40B4-BE49-F238E27FC236}">
                <a16:creationId xmlns:a16="http://schemas.microsoft.com/office/drawing/2014/main" id="{509D64B6-8F21-20E2-F858-E3758BED5120}"/>
              </a:ext>
            </a:extLst>
          </p:cNvPr>
          <p:cNvSpPr txBox="1"/>
          <p:nvPr/>
        </p:nvSpPr>
        <p:spPr>
          <a:xfrm>
            <a:off x="11752104" y="16175602"/>
            <a:ext cx="9066174" cy="4832092"/>
          </a:xfrm>
          <a:prstGeom prst="rect">
            <a:avLst/>
          </a:prstGeom>
          <a:noFill/>
        </p:spPr>
        <p:txBody>
          <a:bodyPr wrap="square" rtlCol="0">
            <a:spAutoFit/>
          </a:bodyPr>
          <a:lstStyle/>
          <a:p>
            <a:pPr algn="just"/>
            <a:r>
              <a:rPr lang="en-US" sz="2800" dirty="0">
                <a:latin typeface="Arial" panose="020B0604020202020204" pitchFamily="34" charset="0"/>
                <a:cs typeface="Arial" panose="020B0604020202020204" pitchFamily="34" charset="0"/>
              </a:rPr>
              <a:t>	Maximum K-distance is 0.4, min point is 5. In case, optimal labels has four categories which zero is 967, minus one is 20, one is 8, and two is 5. Household electricity consumption usage mostly belongs to zero, which is lower power usage. In some cases, when accidentally using high electricity around 4 to 4.5, the voltage is dropped to a normal level. About 20 is model-identified random usage. And, Optimal cluster is 4 for the Davis-Bouldin index, Silhouette score is 4 as well. </a:t>
            </a:r>
          </a:p>
          <a:p>
            <a:pPr algn="just"/>
            <a:endParaRPr lang="en-US" sz="2800" dirty="0">
              <a:latin typeface="Arial" panose="020B0604020202020204" pitchFamily="34" charset="0"/>
              <a:cs typeface="Arial" panose="020B0604020202020204" pitchFamily="34" charset="0"/>
            </a:endParaRPr>
          </a:p>
          <a:p>
            <a:endParaRPr lang="en-US" sz="2800" dirty="0"/>
          </a:p>
        </p:txBody>
      </p:sp>
      <p:pic>
        <p:nvPicPr>
          <p:cNvPr id="29" name="Picture 28">
            <a:extLst>
              <a:ext uri="{FF2B5EF4-FFF2-40B4-BE49-F238E27FC236}">
                <a16:creationId xmlns:a16="http://schemas.microsoft.com/office/drawing/2014/main" id="{7BD490EB-D80F-4587-D11D-2093DAFCB040}"/>
              </a:ext>
            </a:extLst>
          </p:cNvPr>
          <p:cNvPicPr>
            <a:picLocks noChangeAspect="1"/>
          </p:cNvPicPr>
          <p:nvPr/>
        </p:nvPicPr>
        <p:blipFill>
          <a:blip r:embed="rId8"/>
          <a:stretch>
            <a:fillRect/>
          </a:stretch>
        </p:blipFill>
        <p:spPr>
          <a:xfrm>
            <a:off x="22537573" y="13868137"/>
            <a:ext cx="7278967" cy="2437182"/>
          </a:xfrm>
          <a:prstGeom prst="rect">
            <a:avLst/>
          </a:prstGeom>
        </p:spPr>
      </p:pic>
      <p:sp>
        <p:nvSpPr>
          <p:cNvPr id="31" name="TextBox 30">
            <a:extLst>
              <a:ext uri="{FF2B5EF4-FFF2-40B4-BE49-F238E27FC236}">
                <a16:creationId xmlns:a16="http://schemas.microsoft.com/office/drawing/2014/main" id="{517407AA-11D8-D3DA-78BD-5483F3112CC0}"/>
              </a:ext>
            </a:extLst>
          </p:cNvPr>
          <p:cNvSpPr txBox="1"/>
          <p:nvPr/>
        </p:nvSpPr>
        <p:spPr>
          <a:xfrm>
            <a:off x="29875873" y="13826809"/>
            <a:ext cx="12677493" cy="5262979"/>
          </a:xfrm>
          <a:prstGeom prst="rect">
            <a:avLst/>
          </a:prstGeom>
          <a:noFill/>
        </p:spPr>
        <p:txBody>
          <a:bodyPr wrap="square" rtlCol="0">
            <a:spAutoFit/>
          </a:bodyPr>
          <a:lstStyle/>
          <a:p>
            <a:pPr algn="just"/>
            <a:r>
              <a:rPr lang="en-US" sz="2800" dirty="0">
                <a:latin typeface="Arial" panose="020B0604020202020204" pitchFamily="34" charset="0"/>
                <a:cs typeface="Arial" panose="020B0604020202020204" pitchFamily="34" charset="0"/>
              </a:rPr>
              <a:t>	The best value is 2,1,2, which means household electricity past 2 hours usage represents next one hour. </a:t>
            </a:r>
          </a:p>
          <a:p>
            <a:pPr algn="just"/>
            <a:r>
              <a:rPr lang="en-US" sz="2800" dirty="0">
                <a:latin typeface="Arial" panose="020B0604020202020204" pitchFamily="34" charset="0"/>
                <a:cs typeface="Arial" panose="020B0604020202020204" pitchFamily="34" charset="0"/>
              </a:rPr>
              <a:t>Ljung result is 0.80, which means the model has identified a data pattern. And the household electricity consumption bit unexpectedly peaked during the evening so late-night decrease. Also, the histogram shows that the actual distribution is different from a normal distribution. </a:t>
            </a:r>
          </a:p>
          <a:p>
            <a:pPr algn="just"/>
            <a:r>
              <a:rPr lang="en-US" sz="2800" b="1" i="1" dirty="0">
                <a:latin typeface="Arial" panose="020B0604020202020204" pitchFamily="34" charset="0"/>
                <a:cs typeface="Arial" panose="020B0604020202020204" pitchFamily="34" charset="0"/>
              </a:rPr>
              <a:t>Forecast:</a:t>
            </a:r>
          </a:p>
          <a:p>
            <a:pPr algn="just"/>
            <a:r>
              <a:rPr lang="en-US" sz="2800" dirty="0">
                <a:latin typeface="Arial" panose="020B0604020202020204" pitchFamily="34" charset="0"/>
                <a:cs typeface="Arial" panose="020B0604020202020204" pitchFamily="34" charset="0"/>
              </a:rPr>
              <a:t>	I forecasted the next 120 hours of how household electricity will keep going in the next hours. Household power actual usage will be around 22 pm but it will decrease in the future. The model has explained 0.97 percent of the data.</a:t>
            </a:r>
          </a:p>
          <a:p>
            <a:pPr algn="just"/>
            <a:endParaRPr lang="en-US" sz="2800" dirty="0">
              <a:latin typeface="Arial" panose="020B0604020202020204" pitchFamily="34" charset="0"/>
              <a:cs typeface="Arial" panose="020B0604020202020204" pitchFamily="34" charset="0"/>
            </a:endParaRPr>
          </a:p>
          <a:p>
            <a:endParaRPr lang="en-US" sz="2800" dirty="0"/>
          </a:p>
        </p:txBody>
      </p:sp>
      <p:sp>
        <p:nvSpPr>
          <p:cNvPr id="33" name="TextBox 32">
            <a:extLst>
              <a:ext uri="{FF2B5EF4-FFF2-40B4-BE49-F238E27FC236}">
                <a16:creationId xmlns:a16="http://schemas.microsoft.com/office/drawing/2014/main" id="{A76F708C-0D2F-C1DB-4EF5-917D9917E1CA}"/>
              </a:ext>
            </a:extLst>
          </p:cNvPr>
          <p:cNvSpPr txBox="1"/>
          <p:nvPr/>
        </p:nvSpPr>
        <p:spPr>
          <a:xfrm>
            <a:off x="29816539" y="18839624"/>
            <a:ext cx="12677492" cy="7048083"/>
          </a:xfrm>
          <a:prstGeom prst="rect">
            <a:avLst/>
          </a:prstGeom>
          <a:noFill/>
        </p:spPr>
        <p:txBody>
          <a:bodyPr wrap="square" rtlCol="0">
            <a:spAutoFit/>
          </a:bodyPr>
          <a:lstStyle/>
          <a:p>
            <a:pPr algn="just"/>
            <a:r>
              <a:rPr lang="en-US" sz="2800" dirty="0">
                <a:solidFill>
                  <a:schemeClr val="bg1"/>
                </a:solidFill>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The household use more electricity 2 am to 4 am, 10 am, 2 to 3 pm, 6 pm, 20 pm and 22 pm. Other hours it is less activity. </a:t>
            </a:r>
          </a:p>
          <a:p>
            <a:pPr algn="just"/>
            <a:r>
              <a:rPr lang="en-US" sz="2800" dirty="0">
                <a:latin typeface="Arial" panose="020B0604020202020204" pitchFamily="34" charset="0"/>
                <a:cs typeface="Arial" panose="020B0604020202020204" pitchFamily="34" charset="0"/>
              </a:rPr>
              <a:t>Triple Exponential </a:t>
            </a:r>
            <a:r>
              <a:rPr lang="en-US" sz="2800" dirty="0" err="1">
                <a:latin typeface="Arial" panose="020B0604020202020204" pitchFamily="34" charset="0"/>
                <a:cs typeface="Arial" panose="020B0604020202020204" pitchFamily="34" charset="0"/>
              </a:rPr>
              <a:t>Smooting</a:t>
            </a:r>
            <a:r>
              <a:rPr lang="en-US" sz="2800" dirty="0">
                <a:latin typeface="Arial" panose="020B0604020202020204" pitchFamily="34" charset="0"/>
                <a:cs typeface="Arial" panose="020B0604020202020204" pitchFamily="34" charset="0"/>
              </a:rPr>
              <a:t> result:</a:t>
            </a:r>
          </a:p>
          <a:p>
            <a:pPr algn="just"/>
            <a:r>
              <a:rPr lang="en-US" sz="2800" dirty="0">
                <a:latin typeface="Arial" panose="020B0604020202020204" pitchFamily="34" charset="0"/>
                <a:cs typeface="Arial" panose="020B0604020202020204" pitchFamily="34" charset="0"/>
              </a:rPr>
              <a:t>Gamma and Alpha show the best </a:t>
            </a:r>
            <a:r>
              <a:rPr lang="en-US" sz="2800" dirty="0" err="1">
                <a:latin typeface="Arial" panose="020B0604020202020204" pitchFamily="34" charset="0"/>
                <a:cs typeface="Arial" panose="020B0604020202020204" pitchFamily="34" charset="0"/>
              </a:rPr>
              <a:t>predit</a:t>
            </a:r>
            <a:r>
              <a:rPr lang="en-US" sz="2800" dirty="0">
                <a:latin typeface="Arial" panose="020B0604020202020204" pitchFamily="34" charset="0"/>
                <a:cs typeface="Arial" panose="020B0604020202020204" pitchFamily="34" charset="0"/>
              </a:rPr>
              <a:t> and they are error metric much more less which MSE is 0.03, MAE is 0.17, MAPE is 15.47. SARIMA model errors and triple smoothing errors are very close.</a:t>
            </a:r>
          </a:p>
          <a:p>
            <a:pPr algn="just"/>
            <a:endParaRPr lang="en-US" sz="2800" dirty="0">
              <a:latin typeface="Arial" panose="020B0604020202020204" pitchFamily="34" charset="0"/>
              <a:cs typeface="Arial" panose="020B0604020202020204" pitchFamily="34" charset="0"/>
            </a:endParaRPr>
          </a:p>
          <a:p>
            <a:pPr algn="just"/>
            <a:r>
              <a:rPr lang="en-US" sz="2800" dirty="0">
                <a:latin typeface="Arial" panose="020B0604020202020204" pitchFamily="34" charset="0"/>
                <a:cs typeface="Arial" panose="020B0604020202020204" pitchFamily="34" charset="0"/>
              </a:rPr>
              <a:t>Exponential smoothing model results:</a:t>
            </a:r>
          </a:p>
          <a:p>
            <a:pPr algn="just"/>
            <a:endParaRPr lang="mn-MN" sz="2800" dirty="0">
              <a:latin typeface="Arial" panose="020B0604020202020204" pitchFamily="34" charset="0"/>
              <a:cs typeface="Arial" panose="020B0604020202020204" pitchFamily="34" charset="0"/>
            </a:endParaRPr>
          </a:p>
          <a:p>
            <a:pPr algn="just"/>
            <a:r>
              <a:rPr lang="en-US" sz="2800" dirty="0">
                <a:latin typeface="Arial" panose="020B0604020202020204" pitchFamily="34" charset="0"/>
                <a:cs typeface="Arial" panose="020B0604020202020204" pitchFamily="34" charset="0"/>
              </a:rPr>
              <a:t>When compare actual data, addictive seasonality, multiplicate </a:t>
            </a:r>
            <a:r>
              <a:rPr lang="en-US" sz="2800" dirty="0" err="1">
                <a:latin typeface="Arial" panose="020B0604020202020204" pitchFamily="34" charset="0"/>
                <a:cs typeface="Arial" panose="020B0604020202020204" pitchFamily="34" charset="0"/>
              </a:rPr>
              <a:t>seasonalty</a:t>
            </a:r>
            <a:r>
              <a:rPr lang="en-US" sz="2800" dirty="0">
                <a:latin typeface="Arial" panose="020B0604020202020204" pitchFamily="34" charset="0"/>
                <a:cs typeface="Arial" panose="020B0604020202020204" pitchFamily="34" charset="0"/>
              </a:rPr>
              <a:t>, track are close but different from actual data, in other words, exponential smoothing model has been predicted between 1.5 to 4.5 kilowatt but household </a:t>
            </a:r>
            <a:r>
              <a:rPr lang="en-US" sz="2800" dirty="0" err="1">
                <a:latin typeface="Arial" panose="020B0604020202020204" pitchFamily="34" charset="0"/>
                <a:cs typeface="Arial" panose="020B0604020202020204" pitchFamily="34" charset="0"/>
              </a:rPr>
              <a:t>electicity</a:t>
            </a:r>
            <a:r>
              <a:rPr lang="en-US" sz="2800" dirty="0">
                <a:latin typeface="Arial" panose="020B0604020202020204" pitchFamily="34" charset="0"/>
                <a:cs typeface="Arial" panose="020B0604020202020204" pitchFamily="34" charset="0"/>
              </a:rPr>
              <a:t> spikes between to 7.9 kilowatt. </a:t>
            </a:r>
          </a:p>
          <a:p>
            <a:pPr algn="just"/>
            <a:endParaRPr lang="en-US" sz="3200" dirty="0">
              <a:latin typeface="Arial" panose="020B0604020202020204" pitchFamily="34" charset="0"/>
              <a:cs typeface="Arial" panose="020B0604020202020204" pitchFamily="34" charset="0"/>
            </a:endParaRPr>
          </a:p>
          <a:p>
            <a:pPr algn="just"/>
            <a:endParaRPr lang="en-US" sz="2800" dirty="0">
              <a:latin typeface="Arial" panose="020B0604020202020204" pitchFamily="34" charset="0"/>
              <a:cs typeface="Arial" panose="020B0604020202020204" pitchFamily="34" charset="0"/>
            </a:endParaRPr>
          </a:p>
          <a:p>
            <a:endParaRPr lang="en-US" sz="2800" dirty="0"/>
          </a:p>
        </p:txBody>
      </p:sp>
      <p:pic>
        <p:nvPicPr>
          <p:cNvPr id="5" name="Picture 4">
            <a:extLst>
              <a:ext uri="{FF2B5EF4-FFF2-40B4-BE49-F238E27FC236}">
                <a16:creationId xmlns:a16="http://schemas.microsoft.com/office/drawing/2014/main" id="{B1FB7E00-DDA5-86BA-5307-0848600550C4}"/>
              </a:ext>
            </a:extLst>
          </p:cNvPr>
          <p:cNvPicPr>
            <a:picLocks noChangeAspect="1"/>
          </p:cNvPicPr>
          <p:nvPr/>
        </p:nvPicPr>
        <p:blipFill>
          <a:blip r:embed="rId9"/>
          <a:stretch>
            <a:fillRect/>
          </a:stretch>
        </p:blipFill>
        <p:spPr>
          <a:xfrm>
            <a:off x="6576725" y="6549736"/>
            <a:ext cx="5054363" cy="3899884"/>
          </a:xfrm>
          <a:prstGeom prst="rect">
            <a:avLst/>
          </a:prstGeom>
        </p:spPr>
      </p:pic>
      <p:pic>
        <p:nvPicPr>
          <p:cNvPr id="12" name="Picture 11">
            <a:extLst>
              <a:ext uri="{FF2B5EF4-FFF2-40B4-BE49-F238E27FC236}">
                <a16:creationId xmlns:a16="http://schemas.microsoft.com/office/drawing/2014/main" id="{EDA19E91-6BC2-B8B0-7B4E-B182A0BDD54E}"/>
              </a:ext>
            </a:extLst>
          </p:cNvPr>
          <p:cNvPicPr>
            <a:picLocks noChangeAspect="1"/>
          </p:cNvPicPr>
          <p:nvPr/>
        </p:nvPicPr>
        <p:blipFill>
          <a:blip r:embed="rId10"/>
          <a:stretch>
            <a:fillRect/>
          </a:stretch>
        </p:blipFill>
        <p:spPr>
          <a:xfrm>
            <a:off x="1217678" y="21893198"/>
            <a:ext cx="10630376" cy="3636999"/>
          </a:xfrm>
          <a:prstGeom prst="rect">
            <a:avLst/>
          </a:prstGeom>
        </p:spPr>
      </p:pic>
      <p:sp>
        <p:nvSpPr>
          <p:cNvPr id="25" name="TextBox 24">
            <a:extLst>
              <a:ext uri="{FF2B5EF4-FFF2-40B4-BE49-F238E27FC236}">
                <a16:creationId xmlns:a16="http://schemas.microsoft.com/office/drawing/2014/main" id="{E3F8CBD9-C668-1102-C5E6-CD5919B57FF2}"/>
              </a:ext>
            </a:extLst>
          </p:cNvPr>
          <p:cNvSpPr txBox="1"/>
          <p:nvPr/>
        </p:nvSpPr>
        <p:spPr>
          <a:xfrm>
            <a:off x="11903205" y="21007694"/>
            <a:ext cx="9207719" cy="3970318"/>
          </a:xfrm>
          <a:prstGeom prst="rect">
            <a:avLst/>
          </a:prstGeom>
          <a:noFill/>
        </p:spPr>
        <p:txBody>
          <a:bodyPr wrap="square" rtlCol="0">
            <a:spAutoFit/>
          </a:bodyPr>
          <a:lstStyle/>
          <a:p>
            <a:pPr algn="just"/>
            <a:r>
              <a:rPr lang="en-US" sz="2800" dirty="0">
                <a:solidFill>
                  <a:schemeClr val="bg1"/>
                </a:solidFill>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Graph shows that massive power usage more than others but centroid recognized around 1.8. And mostly power usage around 0.3-0.7 which household power usage usually low, in other words, 70 percentage powers is low, 30 percent shows that normal usage and suddenly peak usage. Davis-Boulding optimal cluster is 4, Silhouette score is 4 as well.</a:t>
            </a:r>
          </a:p>
          <a:p>
            <a:pPr algn="just"/>
            <a:endParaRPr lang="en-US" sz="2800" dirty="0">
              <a:latin typeface="Arial" panose="020B0604020202020204" pitchFamily="34" charset="0"/>
              <a:cs typeface="Arial" panose="020B0604020202020204" pitchFamily="34" charset="0"/>
            </a:endParaRPr>
          </a:p>
          <a:p>
            <a:endParaRPr lang="en-US" sz="2800" dirty="0"/>
          </a:p>
        </p:txBody>
      </p:sp>
      <p:pic>
        <p:nvPicPr>
          <p:cNvPr id="7" name="Picture 6">
            <a:extLst>
              <a:ext uri="{FF2B5EF4-FFF2-40B4-BE49-F238E27FC236}">
                <a16:creationId xmlns:a16="http://schemas.microsoft.com/office/drawing/2014/main" id="{C66246BD-756B-35E6-8B00-069BFBCE30EF}"/>
              </a:ext>
            </a:extLst>
          </p:cNvPr>
          <p:cNvPicPr>
            <a:picLocks noChangeAspect="1"/>
          </p:cNvPicPr>
          <p:nvPr/>
        </p:nvPicPr>
        <p:blipFill>
          <a:blip r:embed="rId11"/>
          <a:stretch>
            <a:fillRect/>
          </a:stretch>
        </p:blipFill>
        <p:spPr>
          <a:xfrm>
            <a:off x="22537573" y="16458298"/>
            <a:ext cx="7278966" cy="2437182"/>
          </a:xfrm>
          <a:prstGeom prst="rect">
            <a:avLst/>
          </a:prstGeom>
        </p:spPr>
      </p:pic>
    </p:spTree>
    <p:extLst>
      <p:ext uri="{BB962C8B-B14F-4D97-AF65-F5344CB8AC3E}">
        <p14:creationId xmlns:p14="http://schemas.microsoft.com/office/powerpoint/2010/main" val="1098259038"/>
      </p:ext>
    </p:extLst>
  </p:cSld>
  <p:clrMapOvr>
    <a:masterClrMapping/>
  </p:clrMapOvr>
</p:sld>
</file>

<file path=ppt/theme/theme1.xml><?xml version="1.0" encoding="utf-8"?>
<a:theme xmlns:a="http://schemas.openxmlformats.org/drawingml/2006/main" name="Office Them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1999</TotalTime>
  <Words>889</Words>
  <Application>Microsoft Office PowerPoint</Application>
  <PresentationFormat>Custom</PresentationFormat>
  <Paragraphs>105</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enkhbayasgalan batbayar</dc:creator>
  <cp:lastModifiedBy>enkhbayasgalan batbayar</cp:lastModifiedBy>
  <cp:revision>14</cp:revision>
  <dcterms:created xsi:type="dcterms:W3CDTF">2026-10-10T11:54:27Z</dcterms:created>
  <dcterms:modified xsi:type="dcterms:W3CDTF">2026-10-21T12:48:09Z</dcterms:modified>
</cp:coreProperties>
</file>